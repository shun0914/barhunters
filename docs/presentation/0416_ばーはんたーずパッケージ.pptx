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3" r:id="rId2"/>
    <p:sldId id="270" r:id="rId3"/>
    <p:sldId id="271" r:id="rId4"/>
    <p:sldId id="272" r:id="rId5"/>
    <p:sldId id="274" r:id="rId6"/>
    <p:sldId id="284" r:id="rId7"/>
    <p:sldId id="276" r:id="rId8"/>
    <p:sldId id="278" r:id="rId9"/>
    <p:sldId id="279" r:id="rId10"/>
    <p:sldId id="280" r:id="rId11"/>
    <p:sldId id="281" r:id="rId12"/>
    <p:sldId id="282" r:id="rId13"/>
    <p:sldId id="283"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907D8A1-1FD5-4188-9E84-6C74CFE9CD11}" name="Kiminari Naganawa" initials="KN" userId="5578d891c114e83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950"/>
    <p:restoredTop sz="94666"/>
  </p:normalViewPr>
  <p:slideViewPr>
    <p:cSldViewPr snapToGrid="0" showGuides="1">
      <p:cViewPr varScale="1">
        <p:scale>
          <a:sx n="106" d="100"/>
          <a:sy n="106" d="100"/>
        </p:scale>
        <p:origin x="184" y="28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bg>
      <p:bgPr>
        <a:solidFill>
          <a:schemeClr val="tx1">
            <a:lumMod val="95000"/>
            <a:lumOff val="5000"/>
            <a:alpha val="98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38439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bg>
      <p:bgPr>
        <a:solidFill>
          <a:schemeClr val="bg1">
            <a:lumMod val="8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214311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5FBDC4-B142-6C1E-ED5C-009F6B2E1F25}"/>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F357A73-9F85-3F74-87C3-66B63B2B2535}"/>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F3E8C1BD-900A-A9A5-B77E-37F7FF35E1B5}"/>
              </a:ext>
            </a:extLst>
          </p:cNvPr>
          <p:cNvSpPr>
            <a:spLocks noGrp="1"/>
          </p:cNvSpPr>
          <p:nvPr>
            <p:ph type="dt" sz="half" idx="10"/>
          </p:nvPr>
        </p:nvSpPr>
        <p:spPr>
          <a:xfrm>
            <a:off x="838200" y="6356350"/>
            <a:ext cx="2743200" cy="365125"/>
          </a:xfrm>
          <a:prstGeom prst="rect">
            <a:avLst/>
          </a:prstGeom>
        </p:spPr>
        <p:txBody>
          <a:bodyPr/>
          <a:lstStyle/>
          <a:p>
            <a:fld id="{7E1E58E3-14D7-4241-9AF6-36CD07A2E163}" type="datetimeFigureOut">
              <a:rPr kumimoji="1" lang="ja-JP" altLang="en-US" smtClean="0"/>
              <a:t>2026/4/16</a:t>
            </a:fld>
            <a:endParaRPr kumimoji="1" lang="ja-JP" altLang="en-US"/>
          </a:p>
        </p:txBody>
      </p:sp>
      <p:sp>
        <p:nvSpPr>
          <p:cNvPr id="5" name="フッター プレースホルダー 4">
            <a:extLst>
              <a:ext uri="{FF2B5EF4-FFF2-40B4-BE49-F238E27FC236}">
                <a16:creationId xmlns:a16="http://schemas.microsoft.com/office/drawing/2014/main" id="{7257B553-2E6B-3FAC-5F39-42593179CE30}"/>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8250AEF-A5E4-7822-0C8F-9D6008831B43}"/>
              </a:ext>
            </a:extLst>
          </p:cNvPr>
          <p:cNvSpPr>
            <a:spLocks noGrp="1"/>
          </p:cNvSpPr>
          <p:nvPr>
            <p:ph type="sldNum" sz="quarter" idx="12"/>
          </p:nvPr>
        </p:nvSpPr>
        <p:spPr>
          <a:xfrm>
            <a:off x="8610600" y="6356350"/>
            <a:ext cx="2743200" cy="365125"/>
          </a:xfrm>
          <a:prstGeom prst="rect">
            <a:avLst/>
          </a:prstGeom>
        </p:spPr>
        <p:txBody>
          <a:bodyPr/>
          <a:lstStyle/>
          <a:p>
            <a:fld id="{4C80E1D3-467B-304A-A11B-B606953080A4}" type="slidenum">
              <a:rPr kumimoji="1" lang="ja-JP" altLang="en-US" smtClean="0"/>
              <a:t>‹#›</a:t>
            </a:fld>
            <a:endParaRPr kumimoji="1" lang="ja-JP" altLang="en-US"/>
          </a:p>
        </p:txBody>
      </p:sp>
    </p:spTree>
    <p:extLst>
      <p:ext uri="{BB962C8B-B14F-4D97-AF65-F5344CB8AC3E}">
        <p14:creationId xmlns:p14="http://schemas.microsoft.com/office/powerpoint/2010/main" val="2658858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65A5E-823B-F422-CEB1-01694A7B4779}"/>
              </a:ext>
            </a:extLst>
          </p:cNvPr>
          <p:cNvSpPr>
            <a:spLocks noGrp="1"/>
          </p:cNvSpPr>
          <p:nvPr>
            <p:ph type="title"/>
          </p:nvPr>
        </p:nvSpPr>
        <p:spPr>
          <a:xfrm>
            <a:off x="838200" y="365125"/>
            <a:ext cx="10515600"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E029ADD-BEB6-7A82-97AA-66F38E299C6A}"/>
              </a:ext>
            </a:extLst>
          </p:cNvPr>
          <p:cNvSpPr>
            <a:spLocks noGrp="1"/>
          </p:cNvSpPr>
          <p:nvPr>
            <p:ph sz="half" idx="1"/>
          </p:nvPr>
        </p:nvSpPr>
        <p:spPr>
          <a:xfrm>
            <a:off x="838200" y="1825625"/>
            <a:ext cx="5181600"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8645691-E260-9545-FFFF-8E4DC4C5C52E}"/>
              </a:ext>
            </a:extLst>
          </p:cNvPr>
          <p:cNvSpPr>
            <a:spLocks noGrp="1"/>
          </p:cNvSpPr>
          <p:nvPr>
            <p:ph sz="half" idx="2"/>
          </p:nvPr>
        </p:nvSpPr>
        <p:spPr>
          <a:xfrm>
            <a:off x="6172200" y="1825625"/>
            <a:ext cx="5181600"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2F61803-145F-660B-0476-1A86F0396F6E}"/>
              </a:ext>
            </a:extLst>
          </p:cNvPr>
          <p:cNvSpPr>
            <a:spLocks noGrp="1"/>
          </p:cNvSpPr>
          <p:nvPr>
            <p:ph type="dt" sz="half" idx="10"/>
          </p:nvPr>
        </p:nvSpPr>
        <p:spPr>
          <a:xfrm>
            <a:off x="838200" y="6356350"/>
            <a:ext cx="2743200" cy="365125"/>
          </a:xfrm>
          <a:prstGeom prst="rect">
            <a:avLst/>
          </a:prstGeom>
        </p:spPr>
        <p:txBody>
          <a:bodyPr/>
          <a:lstStyle/>
          <a:p>
            <a:fld id="{7E1E58E3-14D7-4241-9AF6-36CD07A2E163}" type="datetimeFigureOut">
              <a:rPr kumimoji="1" lang="ja-JP" altLang="en-US" smtClean="0"/>
              <a:t>2026/4/16</a:t>
            </a:fld>
            <a:endParaRPr kumimoji="1" lang="ja-JP" altLang="en-US"/>
          </a:p>
        </p:txBody>
      </p:sp>
      <p:sp>
        <p:nvSpPr>
          <p:cNvPr id="6" name="フッター プレースホルダー 5">
            <a:extLst>
              <a:ext uri="{FF2B5EF4-FFF2-40B4-BE49-F238E27FC236}">
                <a16:creationId xmlns:a16="http://schemas.microsoft.com/office/drawing/2014/main" id="{BAC7269A-11F6-5FDF-5B3D-244A89407E8B}"/>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7088F12-E523-1FBE-F7B5-9608B7B1BEF9}"/>
              </a:ext>
            </a:extLst>
          </p:cNvPr>
          <p:cNvSpPr>
            <a:spLocks noGrp="1"/>
          </p:cNvSpPr>
          <p:nvPr>
            <p:ph type="sldNum" sz="quarter" idx="12"/>
          </p:nvPr>
        </p:nvSpPr>
        <p:spPr>
          <a:xfrm>
            <a:off x="8610600" y="6356350"/>
            <a:ext cx="2743200" cy="365125"/>
          </a:xfrm>
          <a:prstGeom prst="rect">
            <a:avLst/>
          </a:prstGeom>
        </p:spPr>
        <p:txBody>
          <a:bodyPr/>
          <a:lstStyle/>
          <a:p>
            <a:fld id="{4C80E1D3-467B-304A-A11B-B606953080A4}" type="slidenum">
              <a:rPr kumimoji="1" lang="ja-JP" altLang="en-US" smtClean="0"/>
              <a:t>‹#›</a:t>
            </a:fld>
            <a:endParaRPr kumimoji="1" lang="ja-JP" altLang="en-US"/>
          </a:p>
        </p:txBody>
      </p:sp>
    </p:spTree>
    <p:extLst>
      <p:ext uri="{BB962C8B-B14F-4D97-AF65-F5344CB8AC3E}">
        <p14:creationId xmlns:p14="http://schemas.microsoft.com/office/powerpoint/2010/main" val="3087563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A50DCE-8804-9E1D-BE37-97CD66B09A55}"/>
              </a:ext>
            </a:extLst>
          </p:cNvPr>
          <p:cNvSpPr>
            <a:spLocks noGrp="1"/>
          </p:cNvSpPr>
          <p:nvPr>
            <p:ph type="title"/>
          </p:nvPr>
        </p:nvSpPr>
        <p:spPr>
          <a:xfrm>
            <a:off x="839788" y="365125"/>
            <a:ext cx="10515600" cy="1325563"/>
          </a:xfrm>
          <a:prstGeom prst="rect">
            <a:avLst/>
          </a:prstGeo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89EE42A-3EC9-1E13-AA26-3269D2CFC21D}"/>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DC5744-9E00-31F6-CD0A-3363ECF7D2DC}"/>
              </a:ext>
            </a:extLst>
          </p:cNvPr>
          <p:cNvSpPr>
            <a:spLocks noGrp="1"/>
          </p:cNvSpPr>
          <p:nvPr>
            <p:ph sz="half" idx="2"/>
          </p:nvPr>
        </p:nvSpPr>
        <p:spPr>
          <a:xfrm>
            <a:off x="839788" y="2505075"/>
            <a:ext cx="5157787" cy="368458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BF6075AB-5DB1-DAF9-315D-69B57636B02D}"/>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6E9B7A7F-74BE-2BE8-AFA8-7F8C45BDFFA8}"/>
              </a:ext>
            </a:extLst>
          </p:cNvPr>
          <p:cNvSpPr>
            <a:spLocks noGrp="1"/>
          </p:cNvSpPr>
          <p:nvPr>
            <p:ph sz="quarter" idx="4"/>
          </p:nvPr>
        </p:nvSpPr>
        <p:spPr>
          <a:xfrm>
            <a:off x="6172200" y="2505075"/>
            <a:ext cx="5183188" cy="368458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3AB6BFAA-58C6-18F8-8300-8A04CF888026}"/>
              </a:ext>
            </a:extLst>
          </p:cNvPr>
          <p:cNvSpPr>
            <a:spLocks noGrp="1"/>
          </p:cNvSpPr>
          <p:nvPr>
            <p:ph type="dt" sz="half" idx="10"/>
          </p:nvPr>
        </p:nvSpPr>
        <p:spPr>
          <a:xfrm>
            <a:off x="838200" y="6356350"/>
            <a:ext cx="2743200" cy="365125"/>
          </a:xfrm>
          <a:prstGeom prst="rect">
            <a:avLst/>
          </a:prstGeom>
        </p:spPr>
        <p:txBody>
          <a:bodyPr/>
          <a:lstStyle/>
          <a:p>
            <a:fld id="{7E1E58E3-14D7-4241-9AF6-36CD07A2E163}" type="datetimeFigureOut">
              <a:rPr kumimoji="1" lang="ja-JP" altLang="en-US" smtClean="0"/>
              <a:t>2026/4/16</a:t>
            </a:fld>
            <a:endParaRPr kumimoji="1" lang="ja-JP" altLang="en-US"/>
          </a:p>
        </p:txBody>
      </p:sp>
      <p:sp>
        <p:nvSpPr>
          <p:cNvPr id="8" name="フッター プレースホルダー 7">
            <a:extLst>
              <a:ext uri="{FF2B5EF4-FFF2-40B4-BE49-F238E27FC236}">
                <a16:creationId xmlns:a16="http://schemas.microsoft.com/office/drawing/2014/main" id="{709BADC2-6AEF-10C9-8F89-DD0C174C8026}"/>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2273297-CE0E-309D-DBCB-EC07D1BA66D8}"/>
              </a:ext>
            </a:extLst>
          </p:cNvPr>
          <p:cNvSpPr>
            <a:spLocks noGrp="1"/>
          </p:cNvSpPr>
          <p:nvPr>
            <p:ph type="sldNum" sz="quarter" idx="12"/>
          </p:nvPr>
        </p:nvSpPr>
        <p:spPr>
          <a:xfrm>
            <a:off x="8610600" y="6356350"/>
            <a:ext cx="2743200" cy="365125"/>
          </a:xfrm>
          <a:prstGeom prst="rect">
            <a:avLst/>
          </a:prstGeom>
        </p:spPr>
        <p:txBody>
          <a:bodyPr/>
          <a:lstStyle/>
          <a:p>
            <a:fld id="{4C80E1D3-467B-304A-A11B-B606953080A4}" type="slidenum">
              <a:rPr kumimoji="1" lang="ja-JP" altLang="en-US" smtClean="0"/>
              <a:t>‹#›</a:t>
            </a:fld>
            <a:endParaRPr kumimoji="1" lang="ja-JP" altLang="en-US"/>
          </a:p>
        </p:txBody>
      </p:sp>
    </p:spTree>
    <p:extLst>
      <p:ext uri="{BB962C8B-B14F-4D97-AF65-F5344CB8AC3E}">
        <p14:creationId xmlns:p14="http://schemas.microsoft.com/office/powerpoint/2010/main" val="3650768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088104-DEE6-96BB-4DA1-C7E9F7FDF9AC}"/>
              </a:ext>
            </a:extLst>
          </p:cNvPr>
          <p:cNvSpPr>
            <a:spLocks noGrp="1"/>
          </p:cNvSpPr>
          <p:nvPr>
            <p:ph type="title"/>
          </p:nvPr>
        </p:nvSpPr>
        <p:spPr>
          <a:xfrm>
            <a:off x="838200" y="365125"/>
            <a:ext cx="10515600" cy="1325563"/>
          </a:xfrm>
          <a:prstGeom prst="rect">
            <a:avLst/>
          </a:prstGeom>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6CD796B-5D2C-84FA-064A-BAEE16E14E31}"/>
              </a:ext>
            </a:extLst>
          </p:cNvPr>
          <p:cNvSpPr>
            <a:spLocks noGrp="1"/>
          </p:cNvSpPr>
          <p:nvPr>
            <p:ph type="dt" sz="half" idx="10"/>
          </p:nvPr>
        </p:nvSpPr>
        <p:spPr>
          <a:xfrm>
            <a:off x="838200" y="6356350"/>
            <a:ext cx="2743200" cy="365125"/>
          </a:xfrm>
          <a:prstGeom prst="rect">
            <a:avLst/>
          </a:prstGeom>
        </p:spPr>
        <p:txBody>
          <a:bodyPr/>
          <a:lstStyle/>
          <a:p>
            <a:fld id="{7E1E58E3-14D7-4241-9AF6-36CD07A2E163}" type="datetimeFigureOut">
              <a:rPr kumimoji="1" lang="ja-JP" altLang="en-US" smtClean="0"/>
              <a:t>2026/4/16</a:t>
            </a:fld>
            <a:endParaRPr kumimoji="1" lang="ja-JP" altLang="en-US"/>
          </a:p>
        </p:txBody>
      </p:sp>
      <p:sp>
        <p:nvSpPr>
          <p:cNvPr id="4" name="フッター プレースホルダー 3">
            <a:extLst>
              <a:ext uri="{FF2B5EF4-FFF2-40B4-BE49-F238E27FC236}">
                <a16:creationId xmlns:a16="http://schemas.microsoft.com/office/drawing/2014/main" id="{E33D620A-3277-F1FE-054E-A39A688D03D4}"/>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0E85DEA-32CB-3A61-7E37-76B7C63F3D6B}"/>
              </a:ext>
            </a:extLst>
          </p:cNvPr>
          <p:cNvSpPr>
            <a:spLocks noGrp="1"/>
          </p:cNvSpPr>
          <p:nvPr>
            <p:ph type="sldNum" sz="quarter" idx="12"/>
          </p:nvPr>
        </p:nvSpPr>
        <p:spPr>
          <a:xfrm>
            <a:off x="8610600" y="6356350"/>
            <a:ext cx="2743200" cy="365125"/>
          </a:xfrm>
          <a:prstGeom prst="rect">
            <a:avLst/>
          </a:prstGeom>
        </p:spPr>
        <p:txBody>
          <a:bodyPr/>
          <a:lstStyle/>
          <a:p>
            <a:fld id="{4C80E1D3-467B-304A-A11B-B606953080A4}" type="slidenum">
              <a:rPr kumimoji="1" lang="ja-JP" altLang="en-US" smtClean="0"/>
              <a:t>‹#›</a:t>
            </a:fld>
            <a:endParaRPr kumimoji="1" lang="ja-JP" altLang="en-US"/>
          </a:p>
        </p:txBody>
      </p:sp>
    </p:spTree>
    <p:extLst>
      <p:ext uri="{BB962C8B-B14F-4D97-AF65-F5344CB8AC3E}">
        <p14:creationId xmlns:p14="http://schemas.microsoft.com/office/powerpoint/2010/main" val="1655436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8E46D47-3D36-26E0-8765-E222F092AA26}"/>
              </a:ext>
            </a:extLst>
          </p:cNvPr>
          <p:cNvSpPr>
            <a:spLocks noGrp="1"/>
          </p:cNvSpPr>
          <p:nvPr>
            <p:ph type="dt" sz="half" idx="10"/>
          </p:nvPr>
        </p:nvSpPr>
        <p:spPr>
          <a:xfrm>
            <a:off x="838200" y="6356350"/>
            <a:ext cx="2743200" cy="365125"/>
          </a:xfrm>
          <a:prstGeom prst="rect">
            <a:avLst/>
          </a:prstGeom>
        </p:spPr>
        <p:txBody>
          <a:bodyPr/>
          <a:lstStyle/>
          <a:p>
            <a:fld id="{7E1E58E3-14D7-4241-9AF6-36CD07A2E163}" type="datetimeFigureOut">
              <a:rPr kumimoji="1" lang="ja-JP" altLang="en-US" smtClean="0"/>
              <a:t>2026/4/16</a:t>
            </a:fld>
            <a:endParaRPr kumimoji="1" lang="ja-JP" altLang="en-US"/>
          </a:p>
        </p:txBody>
      </p:sp>
      <p:sp>
        <p:nvSpPr>
          <p:cNvPr id="3" name="フッター プレースホルダー 2">
            <a:extLst>
              <a:ext uri="{FF2B5EF4-FFF2-40B4-BE49-F238E27FC236}">
                <a16:creationId xmlns:a16="http://schemas.microsoft.com/office/drawing/2014/main" id="{E7AF64F2-FEEA-D759-C929-723FD13AC650}"/>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F578C3A-8CC5-8BAE-A463-B975A5B03330}"/>
              </a:ext>
            </a:extLst>
          </p:cNvPr>
          <p:cNvSpPr>
            <a:spLocks noGrp="1"/>
          </p:cNvSpPr>
          <p:nvPr>
            <p:ph type="sldNum" sz="quarter" idx="12"/>
          </p:nvPr>
        </p:nvSpPr>
        <p:spPr>
          <a:xfrm>
            <a:off x="8610600" y="6356350"/>
            <a:ext cx="2743200" cy="365125"/>
          </a:xfrm>
          <a:prstGeom prst="rect">
            <a:avLst/>
          </a:prstGeom>
        </p:spPr>
        <p:txBody>
          <a:bodyPr/>
          <a:lstStyle/>
          <a:p>
            <a:fld id="{4C80E1D3-467B-304A-A11B-B606953080A4}" type="slidenum">
              <a:rPr kumimoji="1" lang="ja-JP" altLang="en-US" smtClean="0"/>
              <a:t>‹#›</a:t>
            </a:fld>
            <a:endParaRPr kumimoji="1" lang="ja-JP" altLang="en-US"/>
          </a:p>
        </p:txBody>
      </p:sp>
    </p:spTree>
    <p:extLst>
      <p:ext uri="{BB962C8B-B14F-4D97-AF65-F5344CB8AC3E}">
        <p14:creationId xmlns:p14="http://schemas.microsoft.com/office/powerpoint/2010/main" val="3847056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C86EB7-76E5-709E-1082-F7ED99A7C5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4A29299-2975-AAD6-FC20-15C2D7652583}"/>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539EFE9-221E-CF2E-DCB3-63009C2428D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F9B70A0-ECEA-CDF7-C0D9-FA58C924C248}"/>
              </a:ext>
            </a:extLst>
          </p:cNvPr>
          <p:cNvSpPr>
            <a:spLocks noGrp="1"/>
          </p:cNvSpPr>
          <p:nvPr>
            <p:ph type="dt" sz="half" idx="10"/>
          </p:nvPr>
        </p:nvSpPr>
        <p:spPr>
          <a:xfrm>
            <a:off x="838200" y="6356350"/>
            <a:ext cx="2743200" cy="365125"/>
          </a:xfrm>
          <a:prstGeom prst="rect">
            <a:avLst/>
          </a:prstGeom>
        </p:spPr>
        <p:txBody>
          <a:bodyPr/>
          <a:lstStyle/>
          <a:p>
            <a:fld id="{7E1E58E3-14D7-4241-9AF6-36CD07A2E163}" type="datetimeFigureOut">
              <a:rPr kumimoji="1" lang="ja-JP" altLang="en-US" smtClean="0"/>
              <a:t>2026/4/16</a:t>
            </a:fld>
            <a:endParaRPr kumimoji="1" lang="ja-JP" altLang="en-US"/>
          </a:p>
        </p:txBody>
      </p:sp>
      <p:sp>
        <p:nvSpPr>
          <p:cNvPr id="6" name="フッター プレースホルダー 5">
            <a:extLst>
              <a:ext uri="{FF2B5EF4-FFF2-40B4-BE49-F238E27FC236}">
                <a16:creationId xmlns:a16="http://schemas.microsoft.com/office/drawing/2014/main" id="{07777EB9-A8FA-E75A-080E-994038F642C2}"/>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80C2F99-2FED-8DA7-7AA8-A359E6DAD16D}"/>
              </a:ext>
            </a:extLst>
          </p:cNvPr>
          <p:cNvSpPr>
            <a:spLocks noGrp="1"/>
          </p:cNvSpPr>
          <p:nvPr>
            <p:ph type="sldNum" sz="quarter" idx="12"/>
          </p:nvPr>
        </p:nvSpPr>
        <p:spPr>
          <a:xfrm>
            <a:off x="8610600" y="6356350"/>
            <a:ext cx="2743200" cy="365125"/>
          </a:xfrm>
          <a:prstGeom prst="rect">
            <a:avLst/>
          </a:prstGeom>
        </p:spPr>
        <p:txBody>
          <a:bodyPr/>
          <a:lstStyle/>
          <a:p>
            <a:fld id="{4C80E1D3-467B-304A-A11B-B606953080A4}" type="slidenum">
              <a:rPr kumimoji="1" lang="ja-JP" altLang="en-US" smtClean="0"/>
              <a:t>‹#›</a:t>
            </a:fld>
            <a:endParaRPr kumimoji="1" lang="ja-JP" altLang="en-US"/>
          </a:p>
        </p:txBody>
      </p:sp>
    </p:spTree>
    <p:extLst>
      <p:ext uri="{BB962C8B-B14F-4D97-AF65-F5344CB8AC3E}">
        <p14:creationId xmlns:p14="http://schemas.microsoft.com/office/powerpoint/2010/main" val="13413552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C98C05-290F-E7AD-1589-CF6A85A3A31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2C569D4-CAB3-520E-8B84-A1BC41F48CD6}"/>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5E03B6E9-26EB-7751-8021-561995D6A6ED}"/>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FCF3A32-1BED-84F0-5782-D923E7C159A4}"/>
              </a:ext>
            </a:extLst>
          </p:cNvPr>
          <p:cNvSpPr>
            <a:spLocks noGrp="1"/>
          </p:cNvSpPr>
          <p:nvPr>
            <p:ph type="dt" sz="half" idx="10"/>
          </p:nvPr>
        </p:nvSpPr>
        <p:spPr>
          <a:xfrm>
            <a:off x="838200" y="6356350"/>
            <a:ext cx="2743200" cy="365125"/>
          </a:xfrm>
          <a:prstGeom prst="rect">
            <a:avLst/>
          </a:prstGeom>
        </p:spPr>
        <p:txBody>
          <a:bodyPr/>
          <a:lstStyle/>
          <a:p>
            <a:fld id="{7E1E58E3-14D7-4241-9AF6-36CD07A2E163}" type="datetimeFigureOut">
              <a:rPr kumimoji="1" lang="ja-JP" altLang="en-US" smtClean="0"/>
              <a:t>2026/4/16</a:t>
            </a:fld>
            <a:endParaRPr kumimoji="1" lang="ja-JP" altLang="en-US"/>
          </a:p>
        </p:txBody>
      </p:sp>
      <p:sp>
        <p:nvSpPr>
          <p:cNvPr id="6" name="フッター プレースホルダー 5">
            <a:extLst>
              <a:ext uri="{FF2B5EF4-FFF2-40B4-BE49-F238E27FC236}">
                <a16:creationId xmlns:a16="http://schemas.microsoft.com/office/drawing/2014/main" id="{C893D8C1-CF27-3E70-412D-F4E4CF13F42A}"/>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588B6D3-DF22-383E-E718-5A5151CF1C77}"/>
              </a:ext>
            </a:extLst>
          </p:cNvPr>
          <p:cNvSpPr>
            <a:spLocks noGrp="1"/>
          </p:cNvSpPr>
          <p:nvPr>
            <p:ph type="sldNum" sz="quarter" idx="12"/>
          </p:nvPr>
        </p:nvSpPr>
        <p:spPr>
          <a:xfrm>
            <a:off x="8610600" y="6356350"/>
            <a:ext cx="2743200" cy="365125"/>
          </a:xfrm>
          <a:prstGeom prst="rect">
            <a:avLst/>
          </a:prstGeom>
        </p:spPr>
        <p:txBody>
          <a:bodyPr/>
          <a:lstStyle/>
          <a:p>
            <a:fld id="{4C80E1D3-467B-304A-A11B-B606953080A4}" type="slidenum">
              <a:rPr kumimoji="1" lang="ja-JP" altLang="en-US" smtClean="0"/>
              <a:t>‹#›</a:t>
            </a:fld>
            <a:endParaRPr kumimoji="1" lang="ja-JP" altLang="en-US"/>
          </a:p>
        </p:txBody>
      </p:sp>
    </p:spTree>
    <p:extLst>
      <p:ext uri="{BB962C8B-B14F-4D97-AF65-F5344CB8AC3E}">
        <p14:creationId xmlns:p14="http://schemas.microsoft.com/office/powerpoint/2010/main" val="4031129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944808-5F06-5B4D-C4D8-0C4DC98ACCEE}"/>
              </a:ext>
            </a:extLst>
          </p:cNvPr>
          <p:cNvSpPr>
            <a:spLocks noGrp="1"/>
          </p:cNvSpPr>
          <p:nvPr>
            <p:ph type="title"/>
          </p:nvPr>
        </p:nvSpPr>
        <p:spPr>
          <a:xfrm>
            <a:off x="838200" y="365125"/>
            <a:ext cx="10515600" cy="1325563"/>
          </a:xfrm>
          <a:prstGeom prst="rect">
            <a:avLst/>
          </a:prstGeom>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CB2FBE0-A726-0197-0E9F-9A71451123FB}"/>
              </a:ext>
            </a:extLst>
          </p:cNvPr>
          <p:cNvSpPr>
            <a:spLocks noGrp="1"/>
          </p:cNvSpPr>
          <p:nvPr>
            <p:ph type="body" orient="vert" idx="1"/>
          </p:nvPr>
        </p:nvSpPr>
        <p:spPr>
          <a:xfrm>
            <a:off x="838200" y="1825625"/>
            <a:ext cx="10515600" cy="4351338"/>
          </a:xfrm>
          <a:prstGeom prst="rect">
            <a:avLst/>
          </a:prstGeo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E965FE7-8DE5-F13C-51B1-68206FCBB2B6}"/>
              </a:ext>
            </a:extLst>
          </p:cNvPr>
          <p:cNvSpPr>
            <a:spLocks noGrp="1"/>
          </p:cNvSpPr>
          <p:nvPr>
            <p:ph type="dt" sz="half" idx="10"/>
          </p:nvPr>
        </p:nvSpPr>
        <p:spPr>
          <a:xfrm>
            <a:off x="838200" y="6356350"/>
            <a:ext cx="2743200" cy="365125"/>
          </a:xfrm>
          <a:prstGeom prst="rect">
            <a:avLst/>
          </a:prstGeom>
        </p:spPr>
        <p:txBody>
          <a:bodyPr/>
          <a:lstStyle/>
          <a:p>
            <a:fld id="{7E1E58E3-14D7-4241-9AF6-36CD07A2E163}" type="datetimeFigureOut">
              <a:rPr kumimoji="1" lang="ja-JP" altLang="en-US" smtClean="0"/>
              <a:t>2026/4/16</a:t>
            </a:fld>
            <a:endParaRPr kumimoji="1" lang="ja-JP" altLang="en-US"/>
          </a:p>
        </p:txBody>
      </p:sp>
      <p:sp>
        <p:nvSpPr>
          <p:cNvPr id="5" name="フッター プレースホルダー 4">
            <a:extLst>
              <a:ext uri="{FF2B5EF4-FFF2-40B4-BE49-F238E27FC236}">
                <a16:creationId xmlns:a16="http://schemas.microsoft.com/office/drawing/2014/main" id="{BA8FD905-BFF4-3C20-BF2C-C6FBCD07DFB9}"/>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B7CCE01-FF16-1FBB-6256-24E81FC3D4AC}"/>
              </a:ext>
            </a:extLst>
          </p:cNvPr>
          <p:cNvSpPr>
            <a:spLocks noGrp="1"/>
          </p:cNvSpPr>
          <p:nvPr>
            <p:ph type="sldNum" sz="quarter" idx="12"/>
          </p:nvPr>
        </p:nvSpPr>
        <p:spPr>
          <a:xfrm>
            <a:off x="8610600" y="6356350"/>
            <a:ext cx="2743200" cy="365125"/>
          </a:xfrm>
          <a:prstGeom prst="rect">
            <a:avLst/>
          </a:prstGeom>
        </p:spPr>
        <p:txBody>
          <a:bodyPr/>
          <a:lstStyle/>
          <a:p>
            <a:fld id="{4C80E1D3-467B-304A-A11B-B606953080A4}" type="slidenum">
              <a:rPr kumimoji="1" lang="ja-JP" altLang="en-US" smtClean="0"/>
              <a:t>‹#›</a:t>
            </a:fld>
            <a:endParaRPr kumimoji="1" lang="ja-JP" altLang="en-US"/>
          </a:p>
        </p:txBody>
      </p:sp>
    </p:spTree>
    <p:extLst>
      <p:ext uri="{BB962C8B-B14F-4D97-AF65-F5344CB8AC3E}">
        <p14:creationId xmlns:p14="http://schemas.microsoft.com/office/powerpoint/2010/main" val="3917165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9F77E17F-E82C-7458-B254-00C38CE7994C}"/>
              </a:ext>
            </a:extLst>
          </p:cNvPr>
          <p:cNvSpPr>
            <a:spLocks noGrp="1"/>
          </p:cNvSpPr>
          <p:nvPr>
            <p:ph type="title" orient="vert"/>
          </p:nvPr>
        </p:nvSpPr>
        <p:spPr>
          <a:xfrm>
            <a:off x="8724900" y="365125"/>
            <a:ext cx="2628900" cy="5811838"/>
          </a:xfrm>
          <a:prstGeom prst="rect">
            <a:avLst/>
          </a:prstGeo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9C45E23-27AC-21F3-DB60-E045AEBF6787}"/>
              </a:ext>
            </a:extLst>
          </p:cNvPr>
          <p:cNvSpPr>
            <a:spLocks noGrp="1"/>
          </p:cNvSpPr>
          <p:nvPr>
            <p:ph type="body" orient="vert" idx="1"/>
          </p:nvPr>
        </p:nvSpPr>
        <p:spPr>
          <a:xfrm>
            <a:off x="838200" y="365125"/>
            <a:ext cx="7734300" cy="5811838"/>
          </a:xfrm>
          <a:prstGeom prst="rect">
            <a:avLst/>
          </a:prstGeo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CE99622-0766-BEBE-AD4B-4C9ADB495BF2}"/>
              </a:ext>
            </a:extLst>
          </p:cNvPr>
          <p:cNvSpPr>
            <a:spLocks noGrp="1"/>
          </p:cNvSpPr>
          <p:nvPr>
            <p:ph type="dt" sz="half" idx="10"/>
          </p:nvPr>
        </p:nvSpPr>
        <p:spPr>
          <a:xfrm>
            <a:off x="838200" y="6356350"/>
            <a:ext cx="2743200" cy="365125"/>
          </a:xfrm>
          <a:prstGeom prst="rect">
            <a:avLst/>
          </a:prstGeom>
        </p:spPr>
        <p:txBody>
          <a:bodyPr/>
          <a:lstStyle/>
          <a:p>
            <a:fld id="{7E1E58E3-14D7-4241-9AF6-36CD07A2E163}" type="datetimeFigureOut">
              <a:rPr kumimoji="1" lang="ja-JP" altLang="en-US" smtClean="0"/>
              <a:t>2026/4/16</a:t>
            </a:fld>
            <a:endParaRPr kumimoji="1" lang="ja-JP" altLang="en-US"/>
          </a:p>
        </p:txBody>
      </p:sp>
      <p:sp>
        <p:nvSpPr>
          <p:cNvPr id="5" name="フッター プレースホルダー 4">
            <a:extLst>
              <a:ext uri="{FF2B5EF4-FFF2-40B4-BE49-F238E27FC236}">
                <a16:creationId xmlns:a16="http://schemas.microsoft.com/office/drawing/2014/main" id="{E5DA4640-D692-4A61-51D1-D1BA8D701B21}"/>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629C23D-FA95-FFE7-39B1-019AC90E4364}"/>
              </a:ext>
            </a:extLst>
          </p:cNvPr>
          <p:cNvSpPr>
            <a:spLocks noGrp="1"/>
          </p:cNvSpPr>
          <p:nvPr>
            <p:ph type="sldNum" sz="quarter" idx="12"/>
          </p:nvPr>
        </p:nvSpPr>
        <p:spPr>
          <a:xfrm>
            <a:off x="8610600" y="6356350"/>
            <a:ext cx="2743200" cy="365125"/>
          </a:xfrm>
          <a:prstGeom prst="rect">
            <a:avLst/>
          </a:prstGeom>
        </p:spPr>
        <p:txBody>
          <a:bodyPr/>
          <a:lstStyle/>
          <a:p>
            <a:fld id="{4C80E1D3-467B-304A-A11B-B606953080A4}" type="slidenum">
              <a:rPr kumimoji="1" lang="ja-JP" altLang="en-US" smtClean="0"/>
              <a:t>‹#›</a:t>
            </a:fld>
            <a:endParaRPr kumimoji="1" lang="ja-JP" altLang="en-US"/>
          </a:p>
        </p:txBody>
      </p:sp>
    </p:spTree>
    <p:extLst>
      <p:ext uri="{BB962C8B-B14F-4D97-AF65-F5344CB8AC3E}">
        <p14:creationId xmlns:p14="http://schemas.microsoft.com/office/powerpoint/2010/main" val="3547500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14750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0C1227C8-3DF3-E8A9-A166-69C1EA1BF301}"/>
              </a:ext>
            </a:extLst>
          </p:cNvPr>
          <p:cNvSpPr txBox="1"/>
          <p:nvPr/>
        </p:nvSpPr>
        <p:spPr>
          <a:xfrm>
            <a:off x="3126129" y="2326514"/>
            <a:ext cx="5939741" cy="584775"/>
          </a:xfrm>
          <a:prstGeom prst="rect">
            <a:avLst/>
          </a:prstGeom>
          <a:noFill/>
        </p:spPr>
        <p:txBody>
          <a:bodyPr wrap="square" rtlCol="0">
            <a:spAutoFit/>
          </a:bodyPr>
          <a:lstStyle/>
          <a:p>
            <a:r>
              <a:rPr kumimoji="1" lang="en-US" altLang="ja-JP" sz="3200" b="1" dirty="0">
                <a:solidFill>
                  <a:schemeClr val="tx1">
                    <a:lumMod val="95000"/>
                    <a:lumOff val="5000"/>
                  </a:schemeClr>
                </a:solidFill>
              </a:rPr>
              <a:t>0416 </a:t>
            </a:r>
            <a:r>
              <a:rPr lang="ja-JP" altLang="en-US" sz="3200" b="1">
                <a:solidFill>
                  <a:schemeClr val="tx1">
                    <a:lumMod val="95000"/>
                    <a:lumOff val="5000"/>
                  </a:schemeClr>
                </a:solidFill>
              </a:rPr>
              <a:t>西部ガス</a:t>
            </a:r>
            <a:r>
              <a:rPr lang="en-US" altLang="ja-JP" sz="3200" b="1" dirty="0">
                <a:solidFill>
                  <a:schemeClr val="tx1">
                    <a:lumMod val="95000"/>
                    <a:lumOff val="5000"/>
                  </a:schemeClr>
                </a:solidFill>
              </a:rPr>
              <a:t>HD</a:t>
            </a:r>
            <a:r>
              <a:rPr lang="ja-JP" altLang="en-US" sz="3200" b="1">
                <a:solidFill>
                  <a:schemeClr val="tx1">
                    <a:lumMod val="95000"/>
                    <a:lumOff val="5000"/>
                  </a:schemeClr>
                </a:solidFill>
              </a:rPr>
              <a:t>様ヒアリング</a:t>
            </a:r>
            <a:endParaRPr kumimoji="1" lang="ja-JP" altLang="en-US" sz="3200" b="1">
              <a:solidFill>
                <a:schemeClr val="tx1">
                  <a:lumMod val="95000"/>
                  <a:lumOff val="5000"/>
                </a:schemeClr>
              </a:solidFill>
            </a:endParaRPr>
          </a:p>
        </p:txBody>
      </p:sp>
      <p:sp>
        <p:nvSpPr>
          <p:cNvPr id="4" name="テキスト ボックス 3">
            <a:extLst>
              <a:ext uri="{FF2B5EF4-FFF2-40B4-BE49-F238E27FC236}">
                <a16:creationId xmlns:a16="http://schemas.microsoft.com/office/drawing/2014/main" id="{E48078B2-BF0D-1F30-6767-80943DA9679C}"/>
              </a:ext>
            </a:extLst>
          </p:cNvPr>
          <p:cNvSpPr txBox="1"/>
          <p:nvPr/>
        </p:nvSpPr>
        <p:spPr>
          <a:xfrm>
            <a:off x="8102278" y="4780344"/>
            <a:ext cx="2488557" cy="707886"/>
          </a:xfrm>
          <a:prstGeom prst="rect">
            <a:avLst/>
          </a:prstGeom>
          <a:noFill/>
        </p:spPr>
        <p:txBody>
          <a:bodyPr wrap="square" rtlCol="0">
            <a:spAutoFit/>
          </a:bodyPr>
          <a:lstStyle/>
          <a:p>
            <a:r>
              <a:rPr kumimoji="1" lang="en-US" altLang="ja-JP" sz="2000" b="1" dirty="0"/>
              <a:t>Tech0 11</a:t>
            </a:r>
            <a:r>
              <a:rPr kumimoji="1" lang="ja-JP" altLang="en-US" sz="2000" b="1"/>
              <a:t>期</a:t>
            </a:r>
            <a:endParaRPr kumimoji="1" lang="en-US" altLang="ja-JP" sz="2000" b="1" dirty="0"/>
          </a:p>
          <a:p>
            <a:r>
              <a:rPr lang="ja-JP" altLang="en-US" sz="2000" b="1"/>
              <a:t>ばーはんたーず班</a:t>
            </a:r>
            <a:endParaRPr kumimoji="1" lang="ja-JP" altLang="en-US" sz="2000" b="1"/>
          </a:p>
        </p:txBody>
      </p:sp>
    </p:spTree>
    <p:extLst>
      <p:ext uri="{BB962C8B-B14F-4D97-AF65-F5344CB8AC3E}">
        <p14:creationId xmlns:p14="http://schemas.microsoft.com/office/powerpoint/2010/main" val="2523357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098B8-3317-A2A8-D5A4-3DC0E8BB9261}"/>
            </a:ext>
          </a:extLst>
        </p:cNvPr>
        <p:cNvGrpSpPr/>
        <p:nvPr/>
      </p:nvGrpSpPr>
      <p:grpSpPr>
        <a:xfrm>
          <a:off x="0" y="0"/>
          <a:ext cx="0" cy="0"/>
          <a:chOff x="0" y="0"/>
          <a:chExt cx="0" cy="0"/>
        </a:xfrm>
      </p:grpSpPr>
      <p:cxnSp>
        <p:nvCxnSpPr>
          <p:cNvPr id="3" name="直線コネクタ 2">
            <a:extLst>
              <a:ext uri="{FF2B5EF4-FFF2-40B4-BE49-F238E27FC236}">
                <a16:creationId xmlns:a16="http://schemas.microsoft.com/office/drawing/2014/main" id="{B728BE3E-0C7E-6608-8C3D-6AB77A68638C}"/>
              </a:ext>
            </a:extLst>
          </p:cNvPr>
          <p:cNvCxnSpPr>
            <a:cxnSpLocks/>
          </p:cNvCxnSpPr>
          <p:nvPr/>
        </p:nvCxnSpPr>
        <p:spPr>
          <a:xfrm>
            <a:off x="104172" y="544010"/>
            <a:ext cx="11991372"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テキスト ボックス 4">
            <a:extLst>
              <a:ext uri="{FF2B5EF4-FFF2-40B4-BE49-F238E27FC236}">
                <a16:creationId xmlns:a16="http://schemas.microsoft.com/office/drawing/2014/main" id="{127E0F89-2BD7-E1BA-1097-40B6CAFD41DF}"/>
              </a:ext>
            </a:extLst>
          </p:cNvPr>
          <p:cNvSpPr txBox="1"/>
          <p:nvPr/>
        </p:nvSpPr>
        <p:spPr>
          <a:xfrm>
            <a:off x="300944" y="81025"/>
            <a:ext cx="2083443" cy="400110"/>
          </a:xfrm>
          <a:prstGeom prst="rect">
            <a:avLst/>
          </a:prstGeom>
          <a:noFill/>
        </p:spPr>
        <p:txBody>
          <a:bodyPr wrap="square" rtlCol="0">
            <a:spAutoFit/>
          </a:bodyPr>
          <a:lstStyle/>
          <a:p>
            <a:r>
              <a:rPr kumimoji="1" lang="ja-JP" altLang="en-US" sz="2000" b="1">
                <a:solidFill>
                  <a:schemeClr val="bg1">
                    <a:lumMod val="85000"/>
                  </a:schemeClr>
                </a:solidFill>
              </a:rPr>
              <a:t>全体ストーリー</a:t>
            </a:r>
          </a:p>
        </p:txBody>
      </p:sp>
      <p:sp>
        <p:nvSpPr>
          <p:cNvPr id="7" name="テキスト ボックス 6">
            <a:extLst>
              <a:ext uri="{FF2B5EF4-FFF2-40B4-BE49-F238E27FC236}">
                <a16:creationId xmlns:a16="http://schemas.microsoft.com/office/drawing/2014/main" id="{2B5B8BD7-79AB-BF58-F20F-96B4797CB52D}"/>
              </a:ext>
            </a:extLst>
          </p:cNvPr>
          <p:cNvSpPr txBox="1"/>
          <p:nvPr/>
        </p:nvSpPr>
        <p:spPr>
          <a:xfrm>
            <a:off x="3134810" y="1201006"/>
            <a:ext cx="6146157" cy="646331"/>
          </a:xfrm>
          <a:prstGeom prst="rect">
            <a:avLst/>
          </a:prstGeom>
          <a:noFill/>
        </p:spPr>
        <p:txBody>
          <a:bodyPr wrap="square" rtlCol="0">
            <a:spAutoFit/>
          </a:bodyPr>
          <a:lstStyle/>
          <a:p>
            <a:r>
              <a:rPr kumimoji="1" lang="ja-JP" altLang="en-US" sz="3600" b="1">
                <a:solidFill>
                  <a:schemeClr val="accent1">
                    <a:lumMod val="60000"/>
                    <a:lumOff val="40000"/>
                  </a:schemeClr>
                </a:solidFill>
              </a:rPr>
              <a:t>人に投資</a:t>
            </a:r>
            <a:r>
              <a:rPr kumimoji="1" lang="ja-JP" altLang="en-US" sz="3600" b="1">
                <a:solidFill>
                  <a:schemeClr val="bg1">
                    <a:lumMod val="85000"/>
                  </a:schemeClr>
                </a:solidFill>
              </a:rPr>
              <a:t>した。で、</a:t>
            </a:r>
            <a:r>
              <a:rPr kumimoji="1" lang="ja-JP" altLang="en-US" sz="3600" b="1">
                <a:solidFill>
                  <a:schemeClr val="accent1">
                    <a:lumMod val="60000"/>
                    <a:lumOff val="40000"/>
                  </a:schemeClr>
                </a:solidFill>
              </a:rPr>
              <a:t>効果は？</a:t>
            </a:r>
          </a:p>
        </p:txBody>
      </p:sp>
    </p:spTree>
    <p:extLst>
      <p:ext uri="{BB962C8B-B14F-4D97-AF65-F5344CB8AC3E}">
        <p14:creationId xmlns:p14="http://schemas.microsoft.com/office/powerpoint/2010/main" val="1162829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B6A3A-9F14-EB54-90C2-23092294471B}"/>
            </a:ext>
          </a:extLst>
        </p:cNvPr>
        <p:cNvGrpSpPr/>
        <p:nvPr/>
      </p:nvGrpSpPr>
      <p:grpSpPr>
        <a:xfrm>
          <a:off x="0" y="0"/>
          <a:ext cx="0" cy="0"/>
          <a:chOff x="0" y="0"/>
          <a:chExt cx="0" cy="0"/>
        </a:xfrm>
      </p:grpSpPr>
      <p:cxnSp>
        <p:nvCxnSpPr>
          <p:cNvPr id="3" name="直線コネクタ 2">
            <a:extLst>
              <a:ext uri="{FF2B5EF4-FFF2-40B4-BE49-F238E27FC236}">
                <a16:creationId xmlns:a16="http://schemas.microsoft.com/office/drawing/2014/main" id="{B37DC504-1EE4-E2CB-64CB-0580A162A4AC}"/>
              </a:ext>
            </a:extLst>
          </p:cNvPr>
          <p:cNvCxnSpPr>
            <a:cxnSpLocks/>
          </p:cNvCxnSpPr>
          <p:nvPr/>
        </p:nvCxnSpPr>
        <p:spPr>
          <a:xfrm>
            <a:off x="104172" y="544010"/>
            <a:ext cx="11991372"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テキスト ボックス 4">
            <a:extLst>
              <a:ext uri="{FF2B5EF4-FFF2-40B4-BE49-F238E27FC236}">
                <a16:creationId xmlns:a16="http://schemas.microsoft.com/office/drawing/2014/main" id="{2A37735B-CF5A-6369-F4DD-250236172A02}"/>
              </a:ext>
            </a:extLst>
          </p:cNvPr>
          <p:cNvSpPr txBox="1"/>
          <p:nvPr/>
        </p:nvSpPr>
        <p:spPr>
          <a:xfrm>
            <a:off x="300944" y="81025"/>
            <a:ext cx="2083443" cy="400110"/>
          </a:xfrm>
          <a:prstGeom prst="rect">
            <a:avLst/>
          </a:prstGeom>
          <a:noFill/>
        </p:spPr>
        <p:txBody>
          <a:bodyPr wrap="square" rtlCol="0">
            <a:spAutoFit/>
          </a:bodyPr>
          <a:lstStyle/>
          <a:p>
            <a:r>
              <a:rPr kumimoji="1" lang="ja-JP" altLang="en-US" sz="2000" b="1">
                <a:solidFill>
                  <a:schemeClr val="bg1">
                    <a:lumMod val="85000"/>
                  </a:schemeClr>
                </a:solidFill>
              </a:rPr>
              <a:t>全体ストーリー</a:t>
            </a:r>
          </a:p>
        </p:txBody>
      </p:sp>
      <p:grpSp>
        <p:nvGrpSpPr>
          <p:cNvPr id="10" name="グループ化 9">
            <a:extLst>
              <a:ext uri="{FF2B5EF4-FFF2-40B4-BE49-F238E27FC236}">
                <a16:creationId xmlns:a16="http://schemas.microsoft.com/office/drawing/2014/main" id="{CD32FC0C-7B68-E52D-E16F-AB81D44C13FA}"/>
              </a:ext>
            </a:extLst>
          </p:cNvPr>
          <p:cNvGrpSpPr/>
          <p:nvPr/>
        </p:nvGrpSpPr>
        <p:grpSpPr>
          <a:xfrm>
            <a:off x="3134810" y="1201006"/>
            <a:ext cx="6146157" cy="1444982"/>
            <a:chOff x="3125163" y="1652419"/>
            <a:chExt cx="6146157" cy="1444982"/>
          </a:xfrm>
        </p:grpSpPr>
        <p:sp>
          <p:nvSpPr>
            <p:cNvPr id="7" name="テキスト ボックス 6">
              <a:extLst>
                <a:ext uri="{FF2B5EF4-FFF2-40B4-BE49-F238E27FC236}">
                  <a16:creationId xmlns:a16="http://schemas.microsoft.com/office/drawing/2014/main" id="{84F0F971-F621-DAAE-5F3D-D8490F8C5485}"/>
                </a:ext>
              </a:extLst>
            </p:cNvPr>
            <p:cNvSpPr txBox="1"/>
            <p:nvPr/>
          </p:nvSpPr>
          <p:spPr>
            <a:xfrm>
              <a:off x="3125163" y="1652419"/>
              <a:ext cx="6146157" cy="646331"/>
            </a:xfrm>
            <a:prstGeom prst="rect">
              <a:avLst/>
            </a:prstGeom>
            <a:noFill/>
          </p:spPr>
          <p:txBody>
            <a:bodyPr wrap="square" rtlCol="0">
              <a:spAutoFit/>
            </a:bodyPr>
            <a:lstStyle/>
            <a:p>
              <a:r>
                <a:rPr kumimoji="1" lang="ja-JP" altLang="en-US" sz="3600" b="1">
                  <a:solidFill>
                    <a:schemeClr val="accent1">
                      <a:lumMod val="60000"/>
                      <a:lumOff val="40000"/>
                    </a:schemeClr>
                  </a:solidFill>
                </a:rPr>
                <a:t>人に投資</a:t>
              </a:r>
              <a:r>
                <a:rPr kumimoji="1" lang="ja-JP" altLang="en-US" sz="3600" b="1">
                  <a:solidFill>
                    <a:schemeClr val="bg1">
                      <a:lumMod val="85000"/>
                    </a:schemeClr>
                  </a:solidFill>
                </a:rPr>
                <a:t>した。で、</a:t>
              </a:r>
              <a:r>
                <a:rPr kumimoji="1" lang="ja-JP" altLang="en-US" sz="3600" b="1">
                  <a:solidFill>
                    <a:schemeClr val="accent1">
                      <a:lumMod val="60000"/>
                      <a:lumOff val="40000"/>
                    </a:schemeClr>
                  </a:solidFill>
                </a:rPr>
                <a:t>効果は？</a:t>
              </a:r>
            </a:p>
          </p:txBody>
        </p:sp>
        <p:sp>
          <p:nvSpPr>
            <p:cNvPr id="2" name="下矢印 1">
              <a:extLst>
                <a:ext uri="{FF2B5EF4-FFF2-40B4-BE49-F238E27FC236}">
                  <a16:creationId xmlns:a16="http://schemas.microsoft.com/office/drawing/2014/main" id="{9B4C5626-2401-F82B-8610-1AAE049122EA}"/>
                </a:ext>
              </a:extLst>
            </p:cNvPr>
            <p:cNvSpPr/>
            <p:nvPr/>
          </p:nvSpPr>
          <p:spPr>
            <a:xfrm>
              <a:off x="4037638" y="2229299"/>
              <a:ext cx="306438" cy="868101"/>
            </a:xfrm>
            <a:prstGeom prst="downArrow">
              <a:avLst>
                <a:gd name="adj1" fmla="val 29734"/>
                <a:gd name="adj2" fmla="val 55329"/>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下矢印 5">
              <a:extLst>
                <a:ext uri="{FF2B5EF4-FFF2-40B4-BE49-F238E27FC236}">
                  <a16:creationId xmlns:a16="http://schemas.microsoft.com/office/drawing/2014/main" id="{E4E17C83-D4F5-60CF-CAA2-3D20AF307685}"/>
                </a:ext>
              </a:extLst>
            </p:cNvPr>
            <p:cNvSpPr/>
            <p:nvPr/>
          </p:nvSpPr>
          <p:spPr>
            <a:xfrm>
              <a:off x="8046334" y="2229300"/>
              <a:ext cx="306438" cy="868101"/>
            </a:xfrm>
            <a:prstGeom prst="downArrow">
              <a:avLst>
                <a:gd name="adj1" fmla="val 29734"/>
                <a:gd name="adj2" fmla="val 55329"/>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8" name="角丸四角形 7">
            <a:extLst>
              <a:ext uri="{FF2B5EF4-FFF2-40B4-BE49-F238E27FC236}">
                <a16:creationId xmlns:a16="http://schemas.microsoft.com/office/drawing/2014/main" id="{0DD4CD67-3B13-0288-EDCF-0E774CA8ADBC}"/>
              </a:ext>
            </a:extLst>
          </p:cNvPr>
          <p:cNvSpPr/>
          <p:nvPr/>
        </p:nvSpPr>
        <p:spPr>
          <a:xfrm>
            <a:off x="104172" y="2715438"/>
            <a:ext cx="5879939" cy="1316611"/>
          </a:xfrm>
          <a:prstGeom prst="roundRect">
            <a:avLst>
              <a:gd name="adj" fmla="val 0"/>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kumimoji="1" lang="ja-JP" altLang="en-US">
                <a:solidFill>
                  <a:schemeClr val="tx1">
                    <a:lumMod val="95000"/>
                    <a:lumOff val="5000"/>
                  </a:schemeClr>
                </a:solidFill>
              </a:rPr>
              <a:t>人財への投資を行ったが、更に従業員のエンゲージメントを</a:t>
            </a:r>
            <a:r>
              <a:rPr lang="ja-JP" altLang="en-US">
                <a:solidFill>
                  <a:schemeClr val="tx1">
                    <a:lumMod val="95000"/>
                    <a:lumOff val="5000"/>
                  </a:schemeClr>
                </a:solidFill>
              </a:rPr>
              <a:t>高める等</a:t>
            </a:r>
            <a:r>
              <a:rPr kumimoji="1" lang="ja-JP" altLang="en-US">
                <a:solidFill>
                  <a:schemeClr val="tx1">
                    <a:lumMod val="95000"/>
                    <a:lumOff val="5000"/>
                  </a:schemeClr>
                </a:solidFill>
              </a:rPr>
              <a:t>、一人一人が職場で仕事をすることに</a:t>
            </a:r>
            <a:r>
              <a:rPr kumimoji="1" lang="ja-JP" altLang="en-US" b="1">
                <a:solidFill>
                  <a:schemeClr val="tx1">
                    <a:lumMod val="95000"/>
                    <a:lumOff val="5000"/>
                  </a:schemeClr>
                </a:solidFill>
              </a:rPr>
              <a:t>ワクワクするような組織</a:t>
            </a:r>
            <a:r>
              <a:rPr kumimoji="1" lang="ja-JP" altLang="en-US">
                <a:solidFill>
                  <a:schemeClr val="tx1">
                    <a:lumMod val="95000"/>
                    <a:lumOff val="5000"/>
                  </a:schemeClr>
                </a:solidFill>
              </a:rPr>
              <a:t>にしたい</a:t>
            </a:r>
            <a:endParaRPr kumimoji="1" lang="en-US" altLang="ja-JP" dirty="0">
              <a:solidFill>
                <a:schemeClr val="tx1">
                  <a:lumMod val="95000"/>
                  <a:lumOff val="5000"/>
                </a:schemeClr>
              </a:solidFill>
            </a:endParaRPr>
          </a:p>
        </p:txBody>
      </p:sp>
      <p:sp>
        <p:nvSpPr>
          <p:cNvPr id="9" name="角丸四角形 8">
            <a:extLst>
              <a:ext uri="{FF2B5EF4-FFF2-40B4-BE49-F238E27FC236}">
                <a16:creationId xmlns:a16="http://schemas.microsoft.com/office/drawing/2014/main" id="{64BE0401-7EF4-A897-6F91-25BB3B472AA0}"/>
              </a:ext>
            </a:extLst>
          </p:cNvPr>
          <p:cNvSpPr/>
          <p:nvPr/>
        </p:nvSpPr>
        <p:spPr>
          <a:xfrm>
            <a:off x="6207888" y="2715439"/>
            <a:ext cx="5879939" cy="1316610"/>
          </a:xfrm>
          <a:prstGeom prst="roundRect">
            <a:avLst>
              <a:gd name="adj" fmla="val 0"/>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kumimoji="1" lang="ja-JP" altLang="en-US">
                <a:solidFill>
                  <a:schemeClr val="tx1">
                    <a:lumMod val="95000"/>
                    <a:lumOff val="5000"/>
                  </a:schemeClr>
                </a:solidFill>
              </a:rPr>
              <a:t>人財への投資だけでは、必ずしもすぐに経営指標に対して、効果は出ない</a:t>
            </a:r>
            <a:endParaRPr kumimoji="1" lang="en-US" altLang="ja-JP" dirty="0">
              <a:solidFill>
                <a:schemeClr val="tx1">
                  <a:lumMod val="95000"/>
                  <a:lumOff val="5000"/>
                </a:schemeClr>
              </a:solidFill>
            </a:endParaRPr>
          </a:p>
          <a:p>
            <a:pPr marL="285750" indent="-285750">
              <a:buFont typeface="Arial" panose="020B0604020202020204" pitchFamily="34" charset="0"/>
              <a:buChar char="•"/>
            </a:pPr>
            <a:r>
              <a:rPr lang="ja-JP" altLang="en-US" b="1">
                <a:solidFill>
                  <a:schemeClr val="tx1">
                    <a:lumMod val="95000"/>
                    <a:lumOff val="5000"/>
                  </a:schemeClr>
                </a:solidFill>
              </a:rPr>
              <a:t>どう人的資本投資への効果を測れば良いか不明</a:t>
            </a:r>
            <a:endParaRPr kumimoji="1" lang="ja-JP" altLang="en-US" b="1">
              <a:solidFill>
                <a:schemeClr val="tx1">
                  <a:lumMod val="95000"/>
                  <a:lumOff val="5000"/>
                </a:schemeClr>
              </a:solidFill>
            </a:endParaRPr>
          </a:p>
        </p:txBody>
      </p:sp>
    </p:spTree>
    <p:extLst>
      <p:ext uri="{BB962C8B-B14F-4D97-AF65-F5344CB8AC3E}">
        <p14:creationId xmlns:p14="http://schemas.microsoft.com/office/powerpoint/2010/main" val="2984034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0ED19-167D-195C-A533-273DE1866AD0}"/>
            </a:ext>
          </a:extLst>
        </p:cNvPr>
        <p:cNvGrpSpPr/>
        <p:nvPr/>
      </p:nvGrpSpPr>
      <p:grpSpPr>
        <a:xfrm>
          <a:off x="0" y="0"/>
          <a:ext cx="0" cy="0"/>
          <a:chOff x="0" y="0"/>
          <a:chExt cx="0" cy="0"/>
        </a:xfrm>
      </p:grpSpPr>
      <p:cxnSp>
        <p:nvCxnSpPr>
          <p:cNvPr id="3" name="直線コネクタ 2">
            <a:extLst>
              <a:ext uri="{FF2B5EF4-FFF2-40B4-BE49-F238E27FC236}">
                <a16:creationId xmlns:a16="http://schemas.microsoft.com/office/drawing/2014/main" id="{27AE7344-2F1E-F25A-4103-57582804FDEC}"/>
              </a:ext>
            </a:extLst>
          </p:cNvPr>
          <p:cNvCxnSpPr>
            <a:cxnSpLocks/>
          </p:cNvCxnSpPr>
          <p:nvPr/>
        </p:nvCxnSpPr>
        <p:spPr>
          <a:xfrm>
            <a:off x="104172" y="544010"/>
            <a:ext cx="11991372"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テキスト ボックス 4">
            <a:extLst>
              <a:ext uri="{FF2B5EF4-FFF2-40B4-BE49-F238E27FC236}">
                <a16:creationId xmlns:a16="http://schemas.microsoft.com/office/drawing/2014/main" id="{7C2BC033-74C4-8DEC-675B-8DEDFC0CCE8D}"/>
              </a:ext>
            </a:extLst>
          </p:cNvPr>
          <p:cNvSpPr txBox="1"/>
          <p:nvPr/>
        </p:nvSpPr>
        <p:spPr>
          <a:xfrm>
            <a:off x="300944" y="81025"/>
            <a:ext cx="2083443" cy="400110"/>
          </a:xfrm>
          <a:prstGeom prst="rect">
            <a:avLst/>
          </a:prstGeom>
          <a:noFill/>
        </p:spPr>
        <p:txBody>
          <a:bodyPr wrap="square" rtlCol="0">
            <a:spAutoFit/>
          </a:bodyPr>
          <a:lstStyle/>
          <a:p>
            <a:r>
              <a:rPr kumimoji="1" lang="ja-JP" altLang="en-US" sz="2000" b="1">
                <a:solidFill>
                  <a:schemeClr val="bg1">
                    <a:lumMod val="85000"/>
                  </a:schemeClr>
                </a:solidFill>
              </a:rPr>
              <a:t>全体ストーリー</a:t>
            </a:r>
          </a:p>
        </p:txBody>
      </p:sp>
      <p:grpSp>
        <p:nvGrpSpPr>
          <p:cNvPr id="16" name="グループ化 15">
            <a:extLst>
              <a:ext uri="{FF2B5EF4-FFF2-40B4-BE49-F238E27FC236}">
                <a16:creationId xmlns:a16="http://schemas.microsoft.com/office/drawing/2014/main" id="{8137A717-613B-2CF3-7FEF-E3A4D4ED6792}"/>
              </a:ext>
            </a:extLst>
          </p:cNvPr>
          <p:cNvGrpSpPr/>
          <p:nvPr/>
        </p:nvGrpSpPr>
        <p:grpSpPr>
          <a:xfrm>
            <a:off x="104172" y="1201006"/>
            <a:ext cx="11983655" cy="5194652"/>
            <a:chOff x="104172" y="1201006"/>
            <a:chExt cx="11983655" cy="5194652"/>
          </a:xfrm>
        </p:grpSpPr>
        <p:grpSp>
          <p:nvGrpSpPr>
            <p:cNvPr id="10" name="グループ化 9">
              <a:extLst>
                <a:ext uri="{FF2B5EF4-FFF2-40B4-BE49-F238E27FC236}">
                  <a16:creationId xmlns:a16="http://schemas.microsoft.com/office/drawing/2014/main" id="{E6CD5C56-3916-2305-E4D7-E5526616987C}"/>
                </a:ext>
              </a:extLst>
            </p:cNvPr>
            <p:cNvGrpSpPr/>
            <p:nvPr/>
          </p:nvGrpSpPr>
          <p:grpSpPr>
            <a:xfrm>
              <a:off x="3134810" y="1201006"/>
              <a:ext cx="6146157" cy="1439476"/>
              <a:chOff x="3125163" y="1652419"/>
              <a:chExt cx="6146157" cy="1439476"/>
            </a:xfrm>
          </p:grpSpPr>
          <p:sp>
            <p:nvSpPr>
              <p:cNvPr id="7" name="テキスト ボックス 6">
                <a:extLst>
                  <a:ext uri="{FF2B5EF4-FFF2-40B4-BE49-F238E27FC236}">
                    <a16:creationId xmlns:a16="http://schemas.microsoft.com/office/drawing/2014/main" id="{948FC230-7840-5695-BBFB-13332EBDD0D6}"/>
                  </a:ext>
                </a:extLst>
              </p:cNvPr>
              <p:cNvSpPr txBox="1"/>
              <p:nvPr/>
            </p:nvSpPr>
            <p:spPr>
              <a:xfrm>
                <a:off x="3125163" y="1652419"/>
                <a:ext cx="6146157" cy="646331"/>
              </a:xfrm>
              <a:prstGeom prst="rect">
                <a:avLst/>
              </a:prstGeom>
              <a:noFill/>
            </p:spPr>
            <p:txBody>
              <a:bodyPr wrap="square" rtlCol="0">
                <a:spAutoFit/>
              </a:bodyPr>
              <a:lstStyle/>
              <a:p>
                <a:r>
                  <a:rPr kumimoji="1" lang="ja-JP" altLang="en-US" sz="3600" b="1">
                    <a:solidFill>
                      <a:schemeClr val="accent1">
                        <a:lumMod val="60000"/>
                        <a:lumOff val="40000"/>
                      </a:schemeClr>
                    </a:solidFill>
                  </a:rPr>
                  <a:t>人に投資</a:t>
                </a:r>
                <a:r>
                  <a:rPr kumimoji="1" lang="ja-JP" altLang="en-US" sz="3600" b="1">
                    <a:solidFill>
                      <a:schemeClr val="bg1">
                        <a:lumMod val="85000"/>
                      </a:schemeClr>
                    </a:solidFill>
                  </a:rPr>
                  <a:t>した。で、</a:t>
                </a:r>
                <a:r>
                  <a:rPr kumimoji="1" lang="ja-JP" altLang="en-US" sz="3600" b="1">
                    <a:solidFill>
                      <a:schemeClr val="accent1">
                        <a:lumMod val="60000"/>
                        <a:lumOff val="40000"/>
                      </a:schemeClr>
                    </a:solidFill>
                  </a:rPr>
                  <a:t>効果は？</a:t>
                </a:r>
              </a:p>
            </p:txBody>
          </p:sp>
          <p:sp>
            <p:nvSpPr>
              <p:cNvPr id="2" name="下矢印 1">
                <a:extLst>
                  <a:ext uri="{FF2B5EF4-FFF2-40B4-BE49-F238E27FC236}">
                    <a16:creationId xmlns:a16="http://schemas.microsoft.com/office/drawing/2014/main" id="{197218FC-591D-638C-D70C-5940FE56D01B}"/>
                  </a:ext>
                </a:extLst>
              </p:cNvPr>
              <p:cNvSpPr/>
              <p:nvPr/>
            </p:nvSpPr>
            <p:spPr>
              <a:xfrm>
                <a:off x="4037638" y="2223794"/>
                <a:ext cx="306438" cy="868101"/>
              </a:xfrm>
              <a:prstGeom prst="downArrow">
                <a:avLst>
                  <a:gd name="adj1" fmla="val 29734"/>
                  <a:gd name="adj2" fmla="val 55329"/>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下矢印 5">
                <a:extLst>
                  <a:ext uri="{FF2B5EF4-FFF2-40B4-BE49-F238E27FC236}">
                    <a16:creationId xmlns:a16="http://schemas.microsoft.com/office/drawing/2014/main" id="{2C8B1FE6-9ACD-3D7A-992A-BF97292EA56A}"/>
                  </a:ext>
                </a:extLst>
              </p:cNvPr>
              <p:cNvSpPr/>
              <p:nvPr/>
            </p:nvSpPr>
            <p:spPr>
              <a:xfrm>
                <a:off x="8046335" y="2223794"/>
                <a:ext cx="306438" cy="868101"/>
              </a:xfrm>
              <a:prstGeom prst="downArrow">
                <a:avLst>
                  <a:gd name="adj1" fmla="val 29734"/>
                  <a:gd name="adj2" fmla="val 55329"/>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 name="角丸四角形 8">
              <a:extLst>
                <a:ext uri="{FF2B5EF4-FFF2-40B4-BE49-F238E27FC236}">
                  <a16:creationId xmlns:a16="http://schemas.microsoft.com/office/drawing/2014/main" id="{A668A21F-022B-B630-849E-FC094AF855C2}"/>
                </a:ext>
              </a:extLst>
            </p:cNvPr>
            <p:cNvSpPr/>
            <p:nvPr/>
          </p:nvSpPr>
          <p:spPr>
            <a:xfrm>
              <a:off x="6207888" y="2715439"/>
              <a:ext cx="5879939" cy="1316610"/>
            </a:xfrm>
            <a:prstGeom prst="roundRect">
              <a:avLst>
                <a:gd name="adj" fmla="val 0"/>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kumimoji="1" lang="ja-JP" altLang="en-US">
                  <a:solidFill>
                    <a:schemeClr val="tx1">
                      <a:lumMod val="95000"/>
                      <a:lumOff val="5000"/>
                    </a:schemeClr>
                  </a:solidFill>
                </a:rPr>
                <a:t>人財への投資だけでは、必ずしもすぐに経営指標に対して、効果は出ない</a:t>
              </a:r>
              <a:endParaRPr kumimoji="1" lang="en-US" altLang="ja-JP" dirty="0">
                <a:solidFill>
                  <a:schemeClr val="tx1">
                    <a:lumMod val="95000"/>
                    <a:lumOff val="5000"/>
                  </a:schemeClr>
                </a:solidFill>
              </a:endParaRPr>
            </a:p>
            <a:p>
              <a:pPr marL="285750" indent="-285750">
                <a:buFont typeface="Arial" panose="020B0604020202020204" pitchFamily="34" charset="0"/>
                <a:buChar char="•"/>
              </a:pPr>
              <a:r>
                <a:rPr lang="ja-JP" altLang="en-US" b="1">
                  <a:solidFill>
                    <a:schemeClr val="tx1">
                      <a:lumMod val="95000"/>
                      <a:lumOff val="5000"/>
                    </a:schemeClr>
                  </a:solidFill>
                </a:rPr>
                <a:t>どう人的資本投資への効果を測れば良いか不明</a:t>
              </a:r>
              <a:endParaRPr kumimoji="1" lang="ja-JP" altLang="en-US" b="1">
                <a:solidFill>
                  <a:schemeClr val="tx1">
                    <a:lumMod val="95000"/>
                    <a:lumOff val="5000"/>
                  </a:schemeClr>
                </a:solidFill>
              </a:endParaRPr>
            </a:p>
          </p:txBody>
        </p:sp>
        <p:sp>
          <p:nvSpPr>
            <p:cNvPr id="11" name="下矢印 10">
              <a:extLst>
                <a:ext uri="{FF2B5EF4-FFF2-40B4-BE49-F238E27FC236}">
                  <a16:creationId xmlns:a16="http://schemas.microsoft.com/office/drawing/2014/main" id="{EFFF2CCA-B33C-59B5-4770-D8852E2CABC1}"/>
                </a:ext>
              </a:extLst>
            </p:cNvPr>
            <p:cNvSpPr/>
            <p:nvPr/>
          </p:nvSpPr>
          <p:spPr>
            <a:xfrm>
              <a:off x="2890922" y="4179638"/>
              <a:ext cx="306438" cy="868101"/>
            </a:xfrm>
            <a:prstGeom prst="downArrow">
              <a:avLst>
                <a:gd name="adj1" fmla="val 29734"/>
                <a:gd name="adj2" fmla="val 55329"/>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下矢印 11">
              <a:extLst>
                <a:ext uri="{FF2B5EF4-FFF2-40B4-BE49-F238E27FC236}">
                  <a16:creationId xmlns:a16="http://schemas.microsoft.com/office/drawing/2014/main" id="{A2800906-21FF-153A-E9ED-8EDF73399B1C}"/>
                </a:ext>
              </a:extLst>
            </p:cNvPr>
            <p:cNvSpPr/>
            <p:nvPr/>
          </p:nvSpPr>
          <p:spPr>
            <a:xfrm>
              <a:off x="8998499" y="4179638"/>
              <a:ext cx="306438" cy="868101"/>
            </a:xfrm>
            <a:prstGeom prst="downArrow">
              <a:avLst>
                <a:gd name="adj1" fmla="val 29734"/>
                <a:gd name="adj2" fmla="val 55329"/>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0FDA750B-B41F-B00D-BA9F-C1F9EC401B28}"/>
                </a:ext>
              </a:extLst>
            </p:cNvPr>
            <p:cNvSpPr txBox="1"/>
            <p:nvPr/>
          </p:nvSpPr>
          <p:spPr>
            <a:xfrm>
              <a:off x="266217" y="5195329"/>
              <a:ext cx="5717894" cy="1200329"/>
            </a:xfrm>
            <a:prstGeom prst="rect">
              <a:avLst/>
            </a:prstGeom>
            <a:noFill/>
          </p:spPr>
          <p:txBody>
            <a:bodyPr wrap="square" rtlCol="0">
              <a:spAutoFit/>
            </a:bodyPr>
            <a:lstStyle/>
            <a:p>
              <a:r>
                <a:rPr kumimoji="1" lang="ja-JP" altLang="en-US" sz="2400">
                  <a:solidFill>
                    <a:schemeClr val="bg1">
                      <a:lumMod val="85000"/>
                    </a:schemeClr>
                  </a:solidFill>
                </a:rPr>
                <a:t>現場の</a:t>
              </a:r>
              <a:r>
                <a:rPr kumimoji="1" lang="ja-JP" altLang="en-US" sz="2400" b="1">
                  <a:solidFill>
                    <a:schemeClr val="accent1">
                      <a:lumMod val="60000"/>
                      <a:lumOff val="40000"/>
                    </a:schemeClr>
                  </a:solidFill>
                </a:rPr>
                <a:t>小さな挑戦・失敗・助け合い</a:t>
              </a:r>
              <a:r>
                <a:rPr kumimoji="1" lang="ja-JP" altLang="en-US" sz="2400">
                  <a:solidFill>
                    <a:schemeClr val="bg1">
                      <a:lumMod val="85000"/>
                    </a:schemeClr>
                  </a:solidFill>
                </a:rPr>
                <a:t>が、経営（売上）に直結していることを、実感してもらうこと</a:t>
              </a:r>
              <a:endParaRPr kumimoji="1" lang="en-US" altLang="ja-JP" sz="2400" dirty="0">
                <a:solidFill>
                  <a:schemeClr val="bg1">
                    <a:lumMod val="85000"/>
                  </a:schemeClr>
                </a:solidFill>
              </a:endParaRPr>
            </a:p>
          </p:txBody>
        </p:sp>
        <p:sp>
          <p:nvSpPr>
            <p:cNvPr id="14" name="テキスト ボックス 13">
              <a:extLst>
                <a:ext uri="{FF2B5EF4-FFF2-40B4-BE49-F238E27FC236}">
                  <a16:creationId xmlns:a16="http://schemas.microsoft.com/office/drawing/2014/main" id="{05309D4C-0A25-4144-DC65-7712383884C9}"/>
                </a:ext>
              </a:extLst>
            </p:cNvPr>
            <p:cNvSpPr txBox="1"/>
            <p:nvPr/>
          </p:nvSpPr>
          <p:spPr>
            <a:xfrm>
              <a:off x="6369937" y="5195329"/>
              <a:ext cx="5447816" cy="830997"/>
            </a:xfrm>
            <a:prstGeom prst="rect">
              <a:avLst/>
            </a:prstGeom>
            <a:noFill/>
          </p:spPr>
          <p:txBody>
            <a:bodyPr wrap="square" rtlCol="0">
              <a:spAutoFit/>
            </a:bodyPr>
            <a:lstStyle/>
            <a:p>
              <a:r>
                <a:rPr kumimoji="1" lang="ja-JP" altLang="en-US" sz="2400">
                  <a:solidFill>
                    <a:schemeClr val="bg1">
                      <a:lumMod val="85000"/>
                    </a:schemeClr>
                  </a:solidFill>
                </a:rPr>
                <a:t>役員陣が、</a:t>
              </a:r>
              <a:r>
                <a:rPr kumimoji="1" lang="ja-JP" altLang="en-US" sz="2400" b="1">
                  <a:solidFill>
                    <a:schemeClr val="accent1">
                      <a:lumMod val="60000"/>
                      <a:lumOff val="40000"/>
                    </a:schemeClr>
                  </a:solidFill>
                </a:rPr>
                <a:t>根拠を持って</a:t>
              </a:r>
              <a:r>
                <a:rPr kumimoji="1" lang="ja-JP" altLang="en-US" sz="2400">
                  <a:solidFill>
                    <a:schemeClr val="bg1">
                      <a:lumMod val="95000"/>
                    </a:schemeClr>
                  </a:solidFill>
                </a:rPr>
                <a:t>、</a:t>
              </a:r>
              <a:r>
                <a:rPr kumimoji="1" lang="ja-JP" altLang="en-US" sz="2400" b="1">
                  <a:solidFill>
                    <a:schemeClr val="accent1">
                      <a:lumMod val="60000"/>
                      <a:lumOff val="40000"/>
                    </a:schemeClr>
                  </a:solidFill>
                </a:rPr>
                <a:t>ストーリーとして</a:t>
              </a:r>
              <a:r>
                <a:rPr kumimoji="1" lang="ja-JP" altLang="en-US" sz="2400">
                  <a:solidFill>
                    <a:schemeClr val="bg1">
                      <a:lumMod val="85000"/>
                    </a:schemeClr>
                  </a:solidFill>
                </a:rPr>
                <a:t>対外的に説明できること</a:t>
              </a:r>
              <a:endParaRPr kumimoji="1" lang="en-US" altLang="ja-JP" sz="2400" dirty="0">
                <a:solidFill>
                  <a:schemeClr val="bg1">
                    <a:lumMod val="85000"/>
                  </a:schemeClr>
                </a:solidFill>
              </a:endParaRPr>
            </a:p>
          </p:txBody>
        </p:sp>
        <p:sp>
          <p:nvSpPr>
            <p:cNvPr id="4" name="角丸四角形 3">
              <a:extLst>
                <a:ext uri="{FF2B5EF4-FFF2-40B4-BE49-F238E27FC236}">
                  <a16:creationId xmlns:a16="http://schemas.microsoft.com/office/drawing/2014/main" id="{971EF16A-E594-7BBC-4DB1-20460CE93ADE}"/>
                </a:ext>
              </a:extLst>
            </p:cNvPr>
            <p:cNvSpPr/>
            <p:nvPr/>
          </p:nvSpPr>
          <p:spPr>
            <a:xfrm>
              <a:off x="104172" y="2715438"/>
              <a:ext cx="5879939" cy="1316611"/>
            </a:xfrm>
            <a:prstGeom prst="roundRect">
              <a:avLst>
                <a:gd name="adj" fmla="val 0"/>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ja-JP" altLang="en-US">
                  <a:solidFill>
                    <a:schemeClr val="tx1">
                      <a:lumMod val="95000"/>
                      <a:lumOff val="5000"/>
                    </a:schemeClr>
                  </a:solidFill>
                </a:rPr>
                <a:t>人財への投資</a:t>
              </a:r>
              <a:r>
                <a:rPr kumimoji="1" lang="ja-JP" altLang="en-US">
                  <a:solidFill>
                    <a:schemeClr val="tx1">
                      <a:lumMod val="95000"/>
                      <a:lumOff val="5000"/>
                    </a:schemeClr>
                  </a:solidFill>
                </a:rPr>
                <a:t>を行ったが、更に従業員のエンゲージメントを</a:t>
              </a:r>
              <a:r>
                <a:rPr lang="ja-JP" altLang="en-US">
                  <a:solidFill>
                    <a:schemeClr val="tx1">
                      <a:lumMod val="95000"/>
                      <a:lumOff val="5000"/>
                    </a:schemeClr>
                  </a:solidFill>
                </a:rPr>
                <a:t>高める等</a:t>
              </a:r>
              <a:r>
                <a:rPr kumimoji="1" lang="ja-JP" altLang="en-US">
                  <a:solidFill>
                    <a:schemeClr val="tx1">
                      <a:lumMod val="95000"/>
                      <a:lumOff val="5000"/>
                    </a:schemeClr>
                  </a:solidFill>
                </a:rPr>
                <a:t>、一人一人が職場で仕事をすることに</a:t>
              </a:r>
              <a:r>
                <a:rPr kumimoji="1" lang="ja-JP" altLang="en-US" b="1">
                  <a:solidFill>
                    <a:schemeClr val="tx1">
                      <a:lumMod val="95000"/>
                      <a:lumOff val="5000"/>
                    </a:schemeClr>
                  </a:solidFill>
                </a:rPr>
                <a:t>ワクワクするような組織</a:t>
              </a:r>
              <a:r>
                <a:rPr kumimoji="1" lang="ja-JP" altLang="en-US">
                  <a:solidFill>
                    <a:schemeClr val="tx1">
                      <a:lumMod val="95000"/>
                      <a:lumOff val="5000"/>
                    </a:schemeClr>
                  </a:solidFill>
                </a:rPr>
                <a:t>にしたい</a:t>
              </a:r>
              <a:endParaRPr kumimoji="1" lang="en-US" altLang="ja-JP" dirty="0">
                <a:solidFill>
                  <a:schemeClr val="tx1">
                    <a:lumMod val="95000"/>
                    <a:lumOff val="5000"/>
                  </a:schemeClr>
                </a:solidFill>
              </a:endParaRPr>
            </a:p>
          </p:txBody>
        </p:sp>
      </p:grpSp>
      <p:sp>
        <p:nvSpPr>
          <p:cNvPr id="15" name="テキスト ボックス 14">
            <a:extLst>
              <a:ext uri="{FF2B5EF4-FFF2-40B4-BE49-F238E27FC236}">
                <a16:creationId xmlns:a16="http://schemas.microsoft.com/office/drawing/2014/main" id="{631872D9-E0A7-D244-6930-452CBF1A5FC5}"/>
              </a:ext>
            </a:extLst>
          </p:cNvPr>
          <p:cNvSpPr txBox="1"/>
          <p:nvPr/>
        </p:nvSpPr>
        <p:spPr>
          <a:xfrm>
            <a:off x="10478946" y="6402091"/>
            <a:ext cx="1608881" cy="375532"/>
          </a:xfrm>
          <a:prstGeom prst="rect">
            <a:avLst/>
          </a:prstGeom>
          <a:noFill/>
        </p:spPr>
        <p:txBody>
          <a:bodyPr wrap="square" rtlCol="0">
            <a:spAutoFit/>
          </a:bodyPr>
          <a:lstStyle/>
          <a:p>
            <a:r>
              <a:rPr kumimoji="1" lang="ja-JP" altLang="en-US">
                <a:solidFill>
                  <a:schemeClr val="bg1">
                    <a:lumMod val="95000"/>
                  </a:schemeClr>
                </a:solidFill>
              </a:rPr>
              <a:t>つまり・・・</a:t>
            </a:r>
          </a:p>
        </p:txBody>
      </p:sp>
    </p:spTree>
    <p:extLst>
      <p:ext uri="{BB962C8B-B14F-4D97-AF65-F5344CB8AC3E}">
        <p14:creationId xmlns:p14="http://schemas.microsoft.com/office/powerpoint/2010/main" val="3280626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0655A24A-8A8F-05C9-58A5-F27D8D0872F7}"/>
              </a:ext>
            </a:extLst>
          </p:cNvPr>
          <p:cNvCxnSpPr>
            <a:cxnSpLocks/>
          </p:cNvCxnSpPr>
          <p:nvPr/>
        </p:nvCxnSpPr>
        <p:spPr>
          <a:xfrm>
            <a:off x="104172" y="544010"/>
            <a:ext cx="11991372" cy="0"/>
          </a:xfrm>
          <a:prstGeom prst="line">
            <a:avLst/>
          </a:prstGeom>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sp>
        <p:nvSpPr>
          <p:cNvPr id="10" name="テキスト ボックス 9">
            <a:extLst>
              <a:ext uri="{FF2B5EF4-FFF2-40B4-BE49-F238E27FC236}">
                <a16:creationId xmlns:a16="http://schemas.microsoft.com/office/drawing/2014/main" id="{22F5B578-1213-91CD-1C2F-A4423C85F005}"/>
              </a:ext>
            </a:extLst>
          </p:cNvPr>
          <p:cNvSpPr txBox="1"/>
          <p:nvPr/>
        </p:nvSpPr>
        <p:spPr>
          <a:xfrm>
            <a:off x="300944" y="81025"/>
            <a:ext cx="1726554" cy="400110"/>
          </a:xfrm>
          <a:prstGeom prst="rect">
            <a:avLst/>
          </a:prstGeom>
          <a:noFill/>
        </p:spPr>
        <p:txBody>
          <a:bodyPr wrap="square" rtlCol="0">
            <a:spAutoFit/>
          </a:bodyPr>
          <a:lstStyle/>
          <a:p>
            <a:r>
              <a:rPr kumimoji="1" lang="ja-JP" altLang="en-US" sz="2000" b="1">
                <a:solidFill>
                  <a:schemeClr val="tx1">
                    <a:lumMod val="95000"/>
                    <a:lumOff val="5000"/>
                  </a:schemeClr>
                </a:solidFill>
              </a:rPr>
              <a:t>解くべき課題</a:t>
            </a:r>
          </a:p>
        </p:txBody>
      </p:sp>
      <p:grpSp>
        <p:nvGrpSpPr>
          <p:cNvPr id="12" name="グループ化 11">
            <a:extLst>
              <a:ext uri="{FF2B5EF4-FFF2-40B4-BE49-F238E27FC236}">
                <a16:creationId xmlns:a16="http://schemas.microsoft.com/office/drawing/2014/main" id="{7987124B-E113-7470-D966-AF4C8D28F59E}"/>
              </a:ext>
            </a:extLst>
          </p:cNvPr>
          <p:cNvGrpSpPr/>
          <p:nvPr/>
        </p:nvGrpSpPr>
        <p:grpSpPr>
          <a:xfrm>
            <a:off x="3134810" y="1189431"/>
            <a:ext cx="6146157" cy="1360949"/>
            <a:chOff x="3125163" y="1652419"/>
            <a:chExt cx="6146157" cy="1009093"/>
          </a:xfrm>
        </p:grpSpPr>
        <p:sp>
          <p:nvSpPr>
            <p:cNvPr id="19" name="テキスト ボックス 18">
              <a:extLst>
                <a:ext uri="{FF2B5EF4-FFF2-40B4-BE49-F238E27FC236}">
                  <a16:creationId xmlns:a16="http://schemas.microsoft.com/office/drawing/2014/main" id="{5F7A5EB4-F800-4547-6842-8DC1ECC0DD9E}"/>
                </a:ext>
              </a:extLst>
            </p:cNvPr>
            <p:cNvSpPr txBox="1"/>
            <p:nvPr/>
          </p:nvSpPr>
          <p:spPr>
            <a:xfrm>
              <a:off x="3125163" y="1652419"/>
              <a:ext cx="6146157" cy="646331"/>
            </a:xfrm>
            <a:prstGeom prst="rect">
              <a:avLst/>
            </a:prstGeom>
            <a:noFill/>
          </p:spPr>
          <p:txBody>
            <a:bodyPr wrap="square" rtlCol="0">
              <a:spAutoFit/>
            </a:bodyPr>
            <a:lstStyle/>
            <a:p>
              <a:r>
                <a:rPr kumimoji="1" lang="ja-JP" altLang="en-US" sz="3600" b="1">
                  <a:solidFill>
                    <a:schemeClr val="accent1"/>
                  </a:solidFill>
                </a:rPr>
                <a:t>人に投資</a:t>
              </a:r>
              <a:r>
                <a:rPr kumimoji="1" lang="ja-JP" altLang="en-US" sz="3600" b="1">
                  <a:solidFill>
                    <a:schemeClr val="tx1">
                      <a:lumMod val="95000"/>
                      <a:lumOff val="5000"/>
                    </a:schemeClr>
                  </a:solidFill>
                </a:rPr>
                <a:t>した。で、</a:t>
              </a:r>
              <a:r>
                <a:rPr kumimoji="1" lang="ja-JP" altLang="en-US" sz="3600" b="1">
                  <a:solidFill>
                    <a:schemeClr val="accent1"/>
                  </a:solidFill>
                </a:rPr>
                <a:t>効果は？</a:t>
              </a:r>
            </a:p>
          </p:txBody>
        </p:sp>
        <p:sp>
          <p:nvSpPr>
            <p:cNvPr id="20" name="下矢印 19">
              <a:extLst>
                <a:ext uri="{FF2B5EF4-FFF2-40B4-BE49-F238E27FC236}">
                  <a16:creationId xmlns:a16="http://schemas.microsoft.com/office/drawing/2014/main" id="{F2B938B8-3C75-997D-4D50-7F9770912085}"/>
                </a:ext>
              </a:extLst>
            </p:cNvPr>
            <p:cNvSpPr/>
            <p:nvPr/>
          </p:nvSpPr>
          <p:spPr>
            <a:xfrm>
              <a:off x="5933134" y="2222375"/>
              <a:ext cx="306438" cy="439137"/>
            </a:xfrm>
            <a:prstGeom prst="downArrow">
              <a:avLst>
                <a:gd name="adj1" fmla="val 29734"/>
                <a:gd name="adj2" fmla="val 55329"/>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lumMod val="95000"/>
                    <a:lumOff val="5000"/>
                  </a:schemeClr>
                </a:solidFill>
              </a:endParaRPr>
            </a:p>
          </p:txBody>
        </p:sp>
      </p:grpSp>
      <p:sp>
        <p:nvSpPr>
          <p:cNvPr id="22" name="テキスト ボックス 21">
            <a:extLst>
              <a:ext uri="{FF2B5EF4-FFF2-40B4-BE49-F238E27FC236}">
                <a16:creationId xmlns:a16="http://schemas.microsoft.com/office/drawing/2014/main" id="{0ABD06AF-652B-6456-F874-922A5FB59E5A}"/>
              </a:ext>
            </a:extLst>
          </p:cNvPr>
          <p:cNvSpPr txBox="1"/>
          <p:nvPr/>
        </p:nvSpPr>
        <p:spPr>
          <a:xfrm>
            <a:off x="906393" y="2715770"/>
            <a:ext cx="10683432" cy="369332"/>
          </a:xfrm>
          <a:prstGeom prst="rect">
            <a:avLst/>
          </a:prstGeom>
          <a:noFill/>
        </p:spPr>
        <p:txBody>
          <a:bodyPr wrap="square" rtlCol="0">
            <a:spAutoFit/>
          </a:bodyPr>
          <a:lstStyle/>
          <a:p>
            <a:pPr algn="ctr"/>
            <a:r>
              <a:rPr kumimoji="1" lang="ja-JP" altLang="en-US" b="1">
                <a:solidFill>
                  <a:schemeClr val="tx1">
                    <a:lumMod val="95000"/>
                    <a:lumOff val="5000"/>
                  </a:schemeClr>
                </a:solidFill>
              </a:rPr>
              <a:t>西部ガス</a:t>
            </a:r>
            <a:r>
              <a:rPr lang="en-US" altLang="ja-JP" b="1" dirty="0">
                <a:solidFill>
                  <a:schemeClr val="tx1">
                    <a:lumMod val="95000"/>
                    <a:lumOff val="5000"/>
                  </a:schemeClr>
                </a:solidFill>
              </a:rPr>
              <a:t>G</a:t>
            </a:r>
            <a:r>
              <a:rPr lang="ja-JP" altLang="en-US" b="1">
                <a:solidFill>
                  <a:schemeClr val="tx1">
                    <a:lumMod val="95000"/>
                    <a:lumOff val="5000"/>
                  </a:schemeClr>
                </a:solidFill>
              </a:rPr>
              <a:t>のサービスを利用する顧客が「満足」し「笑顔」になってもらうこと、という大前提のもと</a:t>
            </a:r>
            <a:endParaRPr lang="en-US" altLang="ja-JP" b="1" dirty="0">
              <a:solidFill>
                <a:schemeClr val="tx1">
                  <a:lumMod val="95000"/>
                  <a:lumOff val="5000"/>
                </a:schemeClr>
              </a:solidFill>
            </a:endParaRPr>
          </a:p>
        </p:txBody>
      </p:sp>
      <p:sp>
        <p:nvSpPr>
          <p:cNvPr id="25" name="正方形/長方形 24">
            <a:extLst>
              <a:ext uri="{FF2B5EF4-FFF2-40B4-BE49-F238E27FC236}">
                <a16:creationId xmlns:a16="http://schemas.microsoft.com/office/drawing/2014/main" id="{60FFA8D1-656F-51DD-A307-43F450D8BD71}"/>
              </a:ext>
            </a:extLst>
          </p:cNvPr>
          <p:cNvSpPr/>
          <p:nvPr/>
        </p:nvSpPr>
        <p:spPr>
          <a:xfrm>
            <a:off x="0" y="4008140"/>
            <a:ext cx="12192000" cy="2849860"/>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9A871047-F584-026B-4236-4E653E51359B}"/>
              </a:ext>
            </a:extLst>
          </p:cNvPr>
          <p:cNvSpPr txBox="1"/>
          <p:nvPr/>
        </p:nvSpPr>
        <p:spPr>
          <a:xfrm>
            <a:off x="483917" y="4309685"/>
            <a:ext cx="11105908" cy="2246769"/>
          </a:xfrm>
          <a:prstGeom prst="rect">
            <a:avLst/>
          </a:prstGeom>
          <a:noFill/>
        </p:spPr>
        <p:txBody>
          <a:bodyPr wrap="square">
            <a:spAutoFit/>
          </a:bodyPr>
          <a:lstStyle/>
          <a:p>
            <a:pPr marL="714375" indent="-714375"/>
            <a:r>
              <a:rPr lang="en-US" altLang="ja-JP" sz="2800" b="1" dirty="0">
                <a:solidFill>
                  <a:schemeClr val="tx1">
                    <a:lumMod val="95000"/>
                    <a:lumOff val="5000"/>
                  </a:schemeClr>
                </a:solidFill>
              </a:rPr>
              <a:t>Ⅰ</a:t>
            </a:r>
            <a:r>
              <a:rPr lang="ja-JP" altLang="en-US" sz="2800" b="1">
                <a:solidFill>
                  <a:schemeClr val="tx1">
                    <a:lumMod val="95000"/>
                    <a:lumOff val="5000"/>
                  </a:schemeClr>
                </a:solidFill>
              </a:rPr>
              <a:t>．</a:t>
            </a:r>
            <a:r>
              <a:rPr kumimoji="1" lang="ja-JP" altLang="en-US" sz="2800" b="1" u="sng">
                <a:solidFill>
                  <a:schemeClr val="tx1">
                    <a:lumMod val="95000"/>
                    <a:lumOff val="5000"/>
                  </a:schemeClr>
                </a:solidFill>
              </a:rPr>
              <a:t>現場職員が</a:t>
            </a:r>
            <a:r>
              <a:rPr kumimoji="1" lang="ja-JP" altLang="en-US" sz="2800">
                <a:solidFill>
                  <a:schemeClr val="tx1">
                    <a:lumMod val="95000"/>
                    <a:lumOff val="5000"/>
                  </a:schemeClr>
                </a:solidFill>
              </a:rPr>
              <a:t>自己の内発的動機に基づき、西部ガス</a:t>
            </a:r>
            <a:r>
              <a:rPr kumimoji="1" lang="en-US" altLang="ja-JP" sz="2800" dirty="0">
                <a:solidFill>
                  <a:schemeClr val="tx1">
                    <a:lumMod val="95000"/>
                    <a:lumOff val="5000"/>
                  </a:schemeClr>
                </a:solidFill>
              </a:rPr>
              <a:t>G</a:t>
            </a:r>
            <a:r>
              <a:rPr kumimoji="1" lang="ja-JP" altLang="en-US" sz="2800">
                <a:solidFill>
                  <a:schemeClr val="tx1">
                    <a:lumMod val="95000"/>
                    <a:lumOff val="5000"/>
                  </a:schemeClr>
                </a:solidFill>
              </a:rPr>
              <a:t>のサービスを利用する顧客のために、ワクワクしながらポジティブに為すべきことを為せる</a:t>
            </a:r>
            <a:r>
              <a:rPr kumimoji="1" lang="ja-JP" altLang="en-US" sz="2800" b="1">
                <a:solidFill>
                  <a:schemeClr val="tx1">
                    <a:lumMod val="95000"/>
                    <a:lumOff val="5000"/>
                  </a:schemeClr>
                </a:solidFill>
              </a:rPr>
              <a:t>環境がある</a:t>
            </a:r>
            <a:r>
              <a:rPr kumimoji="1" lang="ja-JP" altLang="en-US" sz="2800">
                <a:solidFill>
                  <a:schemeClr val="tx1">
                    <a:lumMod val="95000"/>
                    <a:lumOff val="5000"/>
                  </a:schemeClr>
                </a:solidFill>
              </a:rPr>
              <a:t>ことが</a:t>
            </a:r>
            <a:endParaRPr kumimoji="1" lang="en-US" altLang="ja-JP" sz="2800" dirty="0">
              <a:solidFill>
                <a:schemeClr val="tx1">
                  <a:lumMod val="95000"/>
                  <a:lumOff val="5000"/>
                </a:schemeClr>
              </a:solidFill>
            </a:endParaRPr>
          </a:p>
          <a:p>
            <a:pPr marL="808038" indent="-808038"/>
            <a:endParaRPr kumimoji="1" lang="en-US" altLang="ja-JP" sz="2800" dirty="0">
              <a:solidFill>
                <a:schemeClr val="tx1">
                  <a:lumMod val="95000"/>
                  <a:lumOff val="5000"/>
                </a:schemeClr>
              </a:solidFill>
            </a:endParaRPr>
          </a:p>
          <a:p>
            <a:r>
              <a:rPr lang="en-US" altLang="ja-JP" sz="2800" b="1" dirty="0">
                <a:solidFill>
                  <a:schemeClr val="tx1">
                    <a:lumMod val="95000"/>
                    <a:lumOff val="5000"/>
                  </a:schemeClr>
                </a:solidFill>
              </a:rPr>
              <a:t>Ⅱ</a:t>
            </a:r>
            <a:r>
              <a:rPr lang="ja-JP" altLang="en-US" sz="2800" b="1">
                <a:solidFill>
                  <a:schemeClr val="tx1">
                    <a:lumMod val="95000"/>
                    <a:lumOff val="5000"/>
                  </a:schemeClr>
                </a:solidFill>
              </a:rPr>
              <a:t>．</a:t>
            </a:r>
            <a:r>
              <a:rPr lang="ja-JP" altLang="en-US" sz="2800" b="1" u="sng">
                <a:solidFill>
                  <a:schemeClr val="tx1">
                    <a:lumMod val="95000"/>
                    <a:lumOff val="5000"/>
                  </a:schemeClr>
                </a:solidFill>
              </a:rPr>
              <a:t>経営陣が</a:t>
            </a:r>
            <a:r>
              <a:rPr lang="ja-JP" altLang="en-US" sz="2800">
                <a:solidFill>
                  <a:schemeClr val="tx1">
                    <a:lumMod val="95000"/>
                    <a:lumOff val="5000"/>
                  </a:schemeClr>
                </a:solidFill>
              </a:rPr>
              <a:t>求める</a:t>
            </a:r>
            <a:r>
              <a:rPr kumimoji="1" lang="ja-JP" altLang="en-US" sz="2800" b="1">
                <a:solidFill>
                  <a:schemeClr val="tx1">
                    <a:lumMod val="95000"/>
                    <a:lumOff val="5000"/>
                  </a:schemeClr>
                </a:solidFill>
              </a:rPr>
              <a:t>経営指標（売上）として表れる</a:t>
            </a:r>
            <a:r>
              <a:rPr kumimoji="1" lang="ja-JP" altLang="en-US" sz="2800">
                <a:solidFill>
                  <a:schemeClr val="tx1">
                    <a:lumMod val="95000"/>
                    <a:lumOff val="5000"/>
                  </a:schemeClr>
                </a:solidFill>
              </a:rPr>
              <a:t>のではないか</a:t>
            </a:r>
            <a:endParaRPr kumimoji="1" lang="en-US" altLang="ja-JP" sz="2800" dirty="0">
              <a:solidFill>
                <a:schemeClr val="tx1">
                  <a:lumMod val="95000"/>
                  <a:lumOff val="5000"/>
                </a:schemeClr>
              </a:solidFill>
            </a:endParaRPr>
          </a:p>
        </p:txBody>
      </p:sp>
      <p:sp>
        <p:nvSpPr>
          <p:cNvPr id="27" name="下矢印 26">
            <a:extLst>
              <a:ext uri="{FF2B5EF4-FFF2-40B4-BE49-F238E27FC236}">
                <a16:creationId xmlns:a16="http://schemas.microsoft.com/office/drawing/2014/main" id="{9D3FD3C8-33FF-BC9D-CCBE-8A2E4A7701E8}"/>
              </a:ext>
            </a:extLst>
          </p:cNvPr>
          <p:cNvSpPr/>
          <p:nvPr/>
        </p:nvSpPr>
        <p:spPr>
          <a:xfrm>
            <a:off x="5933954" y="3250492"/>
            <a:ext cx="306438" cy="592258"/>
          </a:xfrm>
          <a:prstGeom prst="downArrow">
            <a:avLst>
              <a:gd name="adj1" fmla="val 29734"/>
              <a:gd name="adj2" fmla="val 55329"/>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lumMod val="95000"/>
                  <a:lumOff val="5000"/>
                </a:schemeClr>
              </a:solidFill>
            </a:endParaRPr>
          </a:p>
        </p:txBody>
      </p:sp>
    </p:spTree>
    <p:extLst>
      <p:ext uri="{BB962C8B-B14F-4D97-AF65-F5344CB8AC3E}">
        <p14:creationId xmlns:p14="http://schemas.microsoft.com/office/powerpoint/2010/main" val="4213984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FE92F-B681-327F-3C3A-C8A3C0C714FC}"/>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DBD8D4ED-54E7-D625-39D0-50FD9193967C}"/>
              </a:ext>
            </a:extLst>
          </p:cNvPr>
          <p:cNvCxnSpPr>
            <a:cxnSpLocks/>
          </p:cNvCxnSpPr>
          <p:nvPr/>
        </p:nvCxnSpPr>
        <p:spPr>
          <a:xfrm>
            <a:off x="104172" y="544010"/>
            <a:ext cx="11991372" cy="0"/>
          </a:xfrm>
          <a:prstGeom prst="line">
            <a:avLst/>
          </a:prstGeom>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sp>
        <p:nvSpPr>
          <p:cNvPr id="10" name="テキスト ボックス 9">
            <a:extLst>
              <a:ext uri="{FF2B5EF4-FFF2-40B4-BE49-F238E27FC236}">
                <a16:creationId xmlns:a16="http://schemas.microsoft.com/office/drawing/2014/main" id="{9B2DE0B6-F699-A525-BCDE-7CFC99F529A2}"/>
              </a:ext>
            </a:extLst>
          </p:cNvPr>
          <p:cNvSpPr txBox="1"/>
          <p:nvPr/>
        </p:nvSpPr>
        <p:spPr>
          <a:xfrm>
            <a:off x="300944" y="81025"/>
            <a:ext cx="1726554" cy="400110"/>
          </a:xfrm>
          <a:prstGeom prst="rect">
            <a:avLst/>
          </a:prstGeom>
          <a:noFill/>
        </p:spPr>
        <p:txBody>
          <a:bodyPr wrap="square" rtlCol="0">
            <a:spAutoFit/>
          </a:bodyPr>
          <a:lstStyle/>
          <a:p>
            <a:r>
              <a:rPr lang="ja-JP" altLang="en-US" sz="2000" b="1">
                <a:solidFill>
                  <a:schemeClr val="tx1">
                    <a:lumMod val="95000"/>
                    <a:lumOff val="5000"/>
                  </a:schemeClr>
                </a:solidFill>
              </a:rPr>
              <a:t>課題の解き方</a:t>
            </a:r>
            <a:endParaRPr kumimoji="1" lang="ja-JP" altLang="en-US" sz="2000" b="1">
              <a:solidFill>
                <a:schemeClr val="tx1">
                  <a:lumMod val="95000"/>
                  <a:lumOff val="5000"/>
                </a:schemeClr>
              </a:solidFill>
            </a:endParaRPr>
          </a:p>
        </p:txBody>
      </p:sp>
      <p:sp>
        <p:nvSpPr>
          <p:cNvPr id="25" name="正方形/長方形 24">
            <a:extLst>
              <a:ext uri="{FF2B5EF4-FFF2-40B4-BE49-F238E27FC236}">
                <a16:creationId xmlns:a16="http://schemas.microsoft.com/office/drawing/2014/main" id="{7E43E54A-CD27-A589-1C5C-43A1577B63AF}"/>
              </a:ext>
            </a:extLst>
          </p:cNvPr>
          <p:cNvSpPr/>
          <p:nvPr/>
        </p:nvSpPr>
        <p:spPr>
          <a:xfrm>
            <a:off x="0" y="606886"/>
            <a:ext cx="12192000" cy="2454986"/>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E65D2C8E-1C0B-D682-D0F3-76CF7F8E55A9}"/>
              </a:ext>
            </a:extLst>
          </p:cNvPr>
          <p:cNvSpPr txBox="1"/>
          <p:nvPr/>
        </p:nvSpPr>
        <p:spPr>
          <a:xfrm>
            <a:off x="543046" y="710994"/>
            <a:ext cx="11105908" cy="2246769"/>
          </a:xfrm>
          <a:prstGeom prst="rect">
            <a:avLst/>
          </a:prstGeom>
          <a:noFill/>
        </p:spPr>
        <p:txBody>
          <a:bodyPr wrap="square">
            <a:spAutoFit/>
          </a:bodyPr>
          <a:lstStyle/>
          <a:p>
            <a:pPr marL="714375" indent="-714375"/>
            <a:r>
              <a:rPr lang="en-US" altLang="ja-JP" sz="2800" b="1" dirty="0">
                <a:solidFill>
                  <a:schemeClr val="tx1">
                    <a:lumMod val="95000"/>
                    <a:lumOff val="5000"/>
                  </a:schemeClr>
                </a:solidFill>
              </a:rPr>
              <a:t>Ⅰ</a:t>
            </a:r>
            <a:r>
              <a:rPr lang="ja-JP" altLang="en-US" sz="2800" b="1">
                <a:solidFill>
                  <a:schemeClr val="tx1">
                    <a:lumMod val="95000"/>
                    <a:lumOff val="5000"/>
                  </a:schemeClr>
                </a:solidFill>
              </a:rPr>
              <a:t>．</a:t>
            </a:r>
            <a:r>
              <a:rPr kumimoji="1" lang="ja-JP" altLang="en-US" sz="2800" b="1" u="sng">
                <a:solidFill>
                  <a:schemeClr val="tx1">
                    <a:lumMod val="95000"/>
                    <a:lumOff val="5000"/>
                  </a:schemeClr>
                </a:solidFill>
              </a:rPr>
              <a:t>現場職員が</a:t>
            </a:r>
            <a:r>
              <a:rPr kumimoji="1" lang="ja-JP" altLang="en-US" sz="2800">
                <a:solidFill>
                  <a:schemeClr val="tx1">
                    <a:lumMod val="95000"/>
                    <a:lumOff val="5000"/>
                  </a:schemeClr>
                </a:solidFill>
              </a:rPr>
              <a:t>自己の内発的動機に基づき、西部ガス</a:t>
            </a:r>
            <a:r>
              <a:rPr kumimoji="1" lang="en-US" altLang="ja-JP" sz="2800" dirty="0">
                <a:solidFill>
                  <a:schemeClr val="tx1">
                    <a:lumMod val="95000"/>
                    <a:lumOff val="5000"/>
                  </a:schemeClr>
                </a:solidFill>
              </a:rPr>
              <a:t>G</a:t>
            </a:r>
            <a:r>
              <a:rPr kumimoji="1" lang="ja-JP" altLang="en-US" sz="2800">
                <a:solidFill>
                  <a:schemeClr val="tx1">
                    <a:lumMod val="95000"/>
                    <a:lumOff val="5000"/>
                  </a:schemeClr>
                </a:solidFill>
              </a:rPr>
              <a:t>のサービスを利用する顧客のために、ワクワクしながらポジティブに為すべきことを為せる</a:t>
            </a:r>
            <a:r>
              <a:rPr kumimoji="1" lang="ja-JP" altLang="en-US" sz="2800" b="1">
                <a:solidFill>
                  <a:schemeClr val="tx1">
                    <a:lumMod val="95000"/>
                    <a:lumOff val="5000"/>
                  </a:schemeClr>
                </a:solidFill>
              </a:rPr>
              <a:t>環境がある</a:t>
            </a:r>
            <a:r>
              <a:rPr kumimoji="1" lang="ja-JP" altLang="en-US" sz="2800">
                <a:solidFill>
                  <a:schemeClr val="tx1">
                    <a:lumMod val="95000"/>
                    <a:lumOff val="5000"/>
                  </a:schemeClr>
                </a:solidFill>
              </a:rPr>
              <a:t>ことが</a:t>
            </a:r>
            <a:endParaRPr kumimoji="1" lang="en-US" altLang="ja-JP" sz="2800" dirty="0">
              <a:solidFill>
                <a:schemeClr val="tx1">
                  <a:lumMod val="95000"/>
                  <a:lumOff val="5000"/>
                </a:schemeClr>
              </a:solidFill>
            </a:endParaRPr>
          </a:p>
          <a:p>
            <a:pPr marL="808038" indent="-808038"/>
            <a:endParaRPr kumimoji="1" lang="en-US" altLang="ja-JP" sz="2800" dirty="0">
              <a:solidFill>
                <a:schemeClr val="tx1">
                  <a:lumMod val="95000"/>
                  <a:lumOff val="5000"/>
                </a:schemeClr>
              </a:solidFill>
            </a:endParaRPr>
          </a:p>
          <a:p>
            <a:r>
              <a:rPr lang="en-US" altLang="ja-JP" sz="2800" b="1" dirty="0">
                <a:solidFill>
                  <a:schemeClr val="tx1">
                    <a:lumMod val="95000"/>
                    <a:lumOff val="5000"/>
                  </a:schemeClr>
                </a:solidFill>
              </a:rPr>
              <a:t>Ⅱ</a:t>
            </a:r>
            <a:r>
              <a:rPr lang="ja-JP" altLang="en-US" sz="2800" b="1">
                <a:solidFill>
                  <a:schemeClr val="tx1">
                    <a:lumMod val="95000"/>
                    <a:lumOff val="5000"/>
                  </a:schemeClr>
                </a:solidFill>
              </a:rPr>
              <a:t>．</a:t>
            </a:r>
            <a:r>
              <a:rPr lang="ja-JP" altLang="en-US" sz="2800" b="1" u="sng">
                <a:solidFill>
                  <a:schemeClr val="tx1">
                    <a:lumMod val="95000"/>
                    <a:lumOff val="5000"/>
                  </a:schemeClr>
                </a:solidFill>
              </a:rPr>
              <a:t>経営陣が</a:t>
            </a:r>
            <a:r>
              <a:rPr lang="ja-JP" altLang="en-US" sz="2800">
                <a:solidFill>
                  <a:schemeClr val="tx1">
                    <a:lumMod val="95000"/>
                    <a:lumOff val="5000"/>
                  </a:schemeClr>
                </a:solidFill>
              </a:rPr>
              <a:t>求める</a:t>
            </a:r>
            <a:r>
              <a:rPr kumimoji="1" lang="ja-JP" altLang="en-US" sz="2800" b="1">
                <a:solidFill>
                  <a:schemeClr val="tx1">
                    <a:lumMod val="95000"/>
                    <a:lumOff val="5000"/>
                  </a:schemeClr>
                </a:solidFill>
              </a:rPr>
              <a:t>経営指標（売上）として表れる</a:t>
            </a:r>
            <a:r>
              <a:rPr kumimoji="1" lang="ja-JP" altLang="en-US" sz="2800">
                <a:solidFill>
                  <a:schemeClr val="tx1">
                    <a:lumMod val="95000"/>
                    <a:lumOff val="5000"/>
                  </a:schemeClr>
                </a:solidFill>
              </a:rPr>
              <a:t>のではないか</a:t>
            </a:r>
            <a:endParaRPr kumimoji="1" lang="en-US" altLang="ja-JP" sz="2800" dirty="0">
              <a:solidFill>
                <a:schemeClr val="tx1">
                  <a:lumMod val="95000"/>
                  <a:lumOff val="5000"/>
                </a:schemeClr>
              </a:solidFill>
            </a:endParaRPr>
          </a:p>
        </p:txBody>
      </p:sp>
      <p:sp>
        <p:nvSpPr>
          <p:cNvPr id="27" name="下矢印 26">
            <a:extLst>
              <a:ext uri="{FF2B5EF4-FFF2-40B4-BE49-F238E27FC236}">
                <a16:creationId xmlns:a16="http://schemas.microsoft.com/office/drawing/2014/main" id="{8C6D8A9D-7CB1-D3C9-DB7C-90080D7608D2}"/>
              </a:ext>
            </a:extLst>
          </p:cNvPr>
          <p:cNvSpPr/>
          <p:nvPr/>
        </p:nvSpPr>
        <p:spPr>
          <a:xfrm>
            <a:off x="5942781" y="3132871"/>
            <a:ext cx="306438" cy="592258"/>
          </a:xfrm>
          <a:prstGeom prst="downArrow">
            <a:avLst>
              <a:gd name="adj1" fmla="val 29734"/>
              <a:gd name="adj2" fmla="val 55329"/>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lumMod val="95000"/>
                  <a:lumOff val="5000"/>
                </a:schemeClr>
              </a:solidFill>
            </a:endParaRPr>
          </a:p>
        </p:txBody>
      </p:sp>
      <p:sp>
        <p:nvSpPr>
          <p:cNvPr id="5" name="テキスト ボックス 4">
            <a:extLst>
              <a:ext uri="{FF2B5EF4-FFF2-40B4-BE49-F238E27FC236}">
                <a16:creationId xmlns:a16="http://schemas.microsoft.com/office/drawing/2014/main" id="{8DB765D2-5FA3-E93A-9243-1C57D713EFDB}"/>
              </a:ext>
            </a:extLst>
          </p:cNvPr>
          <p:cNvSpPr txBox="1"/>
          <p:nvPr/>
        </p:nvSpPr>
        <p:spPr>
          <a:xfrm>
            <a:off x="543046" y="3796128"/>
            <a:ext cx="11105908" cy="2923877"/>
          </a:xfrm>
          <a:prstGeom prst="rect">
            <a:avLst/>
          </a:prstGeom>
          <a:noFill/>
        </p:spPr>
        <p:txBody>
          <a:bodyPr wrap="square">
            <a:spAutoFit/>
          </a:bodyPr>
          <a:lstStyle/>
          <a:p>
            <a:pPr marL="714375" indent="-714375"/>
            <a:r>
              <a:rPr lang="en-US" altLang="ja-JP" sz="2800" b="1" dirty="0">
                <a:solidFill>
                  <a:schemeClr val="tx1">
                    <a:lumMod val="95000"/>
                    <a:lumOff val="5000"/>
                  </a:schemeClr>
                </a:solidFill>
              </a:rPr>
              <a:t>①</a:t>
            </a:r>
            <a:r>
              <a:rPr lang="ja-JP" altLang="en-US" sz="2800" b="1">
                <a:solidFill>
                  <a:schemeClr val="tx1">
                    <a:lumMod val="95000"/>
                    <a:lumOff val="5000"/>
                  </a:schemeClr>
                </a:solidFill>
              </a:rPr>
              <a:t>　売上を含む企業価値の向上に資する指標を特定した上で、</a:t>
            </a:r>
            <a:endParaRPr lang="en-US" altLang="ja-JP" sz="2800" b="1" dirty="0">
              <a:solidFill>
                <a:schemeClr val="tx1">
                  <a:lumMod val="95000"/>
                  <a:lumOff val="5000"/>
                </a:schemeClr>
              </a:solidFill>
            </a:endParaRPr>
          </a:p>
          <a:p>
            <a:pPr marL="714375" indent="-714375"/>
            <a:endParaRPr kumimoji="1" lang="en-US" altLang="ja-JP" sz="2800" b="1" dirty="0">
              <a:solidFill>
                <a:schemeClr val="tx1">
                  <a:lumMod val="95000"/>
                  <a:lumOff val="5000"/>
                </a:schemeClr>
              </a:solidFill>
            </a:endParaRPr>
          </a:p>
          <a:p>
            <a:pPr marL="714375" indent="-714375"/>
            <a:r>
              <a:rPr lang="en-US" altLang="ja-JP" sz="2800" b="1" dirty="0">
                <a:solidFill>
                  <a:schemeClr val="tx1">
                    <a:lumMod val="95000"/>
                    <a:lumOff val="5000"/>
                  </a:schemeClr>
                </a:solidFill>
              </a:rPr>
              <a:t>②</a:t>
            </a:r>
            <a:r>
              <a:rPr lang="ja-JP" altLang="en-US" sz="2800" b="1">
                <a:solidFill>
                  <a:schemeClr val="tx1">
                    <a:lumMod val="95000"/>
                    <a:lumOff val="5000"/>
                  </a:schemeClr>
                </a:solidFill>
              </a:rPr>
              <a:t>　当該指標を達成するために必要な施策や考え方を導入し、</a:t>
            </a:r>
            <a:endParaRPr lang="en-US" altLang="ja-JP" sz="2800" b="1" dirty="0">
              <a:solidFill>
                <a:schemeClr val="tx1">
                  <a:lumMod val="95000"/>
                  <a:lumOff val="5000"/>
                </a:schemeClr>
              </a:solidFill>
            </a:endParaRPr>
          </a:p>
          <a:p>
            <a:pPr marL="714375" indent="-714375"/>
            <a:endParaRPr lang="en-US" altLang="ja-JP" sz="2800" b="1" dirty="0">
              <a:solidFill>
                <a:schemeClr val="tx1">
                  <a:lumMod val="95000"/>
                  <a:lumOff val="5000"/>
                </a:schemeClr>
              </a:solidFill>
            </a:endParaRPr>
          </a:p>
          <a:p>
            <a:pPr marL="714375" indent="-714375"/>
            <a:r>
              <a:rPr kumimoji="1" lang="en-US" altLang="ja-JP" sz="2800" b="1" dirty="0">
                <a:solidFill>
                  <a:schemeClr val="tx1">
                    <a:lumMod val="95000"/>
                    <a:lumOff val="5000"/>
                  </a:schemeClr>
                </a:solidFill>
              </a:rPr>
              <a:t>③</a:t>
            </a:r>
            <a:r>
              <a:rPr lang="ja-JP" altLang="en-US" sz="2800" b="1">
                <a:solidFill>
                  <a:schemeClr val="tx1">
                    <a:lumMod val="95000"/>
                    <a:lumOff val="5000"/>
                  </a:schemeClr>
                </a:solidFill>
              </a:rPr>
              <a:t>　その効果や数値の推移を継続的に計測する</a:t>
            </a:r>
            <a:endParaRPr lang="en-US" altLang="ja-JP" sz="2800" b="1" dirty="0">
              <a:solidFill>
                <a:schemeClr val="tx1">
                  <a:lumMod val="95000"/>
                  <a:lumOff val="5000"/>
                </a:schemeClr>
              </a:solidFill>
            </a:endParaRPr>
          </a:p>
          <a:p>
            <a:pPr marL="714375" indent="-714375"/>
            <a:endParaRPr kumimoji="1" lang="en-US" altLang="ja-JP" sz="2000" b="1" dirty="0">
              <a:solidFill>
                <a:schemeClr val="tx1">
                  <a:lumMod val="95000"/>
                  <a:lumOff val="5000"/>
                </a:schemeClr>
              </a:solidFill>
            </a:endParaRPr>
          </a:p>
          <a:p>
            <a:pPr marL="714375" indent="-714375" algn="r"/>
            <a:r>
              <a:rPr lang="ja-JP" altLang="en-US" sz="2000">
                <a:solidFill>
                  <a:schemeClr val="tx1">
                    <a:lumMod val="95000"/>
                    <a:lumOff val="5000"/>
                  </a:schemeClr>
                </a:solidFill>
              </a:rPr>
              <a:t>というストーリーで、本企業クエストを解く。</a:t>
            </a:r>
            <a:endParaRPr kumimoji="1" lang="en-US" altLang="ja-JP" sz="2000" dirty="0">
              <a:solidFill>
                <a:schemeClr val="tx1">
                  <a:lumMod val="95000"/>
                  <a:lumOff val="5000"/>
                </a:schemeClr>
              </a:solidFill>
            </a:endParaRPr>
          </a:p>
        </p:txBody>
      </p:sp>
    </p:spTree>
    <p:extLst>
      <p:ext uri="{BB962C8B-B14F-4D97-AF65-F5344CB8AC3E}">
        <p14:creationId xmlns:p14="http://schemas.microsoft.com/office/powerpoint/2010/main" val="2429079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129B4C3-12F9-EB91-69FC-B6515CA21010}"/>
              </a:ext>
            </a:extLst>
          </p:cNvPr>
          <p:cNvSpPr txBox="1"/>
          <p:nvPr/>
        </p:nvSpPr>
        <p:spPr>
          <a:xfrm>
            <a:off x="300943" y="866345"/>
            <a:ext cx="11609406" cy="461665"/>
          </a:xfrm>
          <a:prstGeom prst="rect">
            <a:avLst/>
          </a:prstGeom>
          <a:noFill/>
        </p:spPr>
        <p:txBody>
          <a:bodyPr wrap="square" rtlCol="0">
            <a:spAutoFit/>
          </a:bodyPr>
          <a:lstStyle/>
          <a:p>
            <a:pPr marL="714375" indent="-714375"/>
            <a:r>
              <a:rPr lang="en-US" altLang="ja-JP" sz="2400" b="1" dirty="0">
                <a:solidFill>
                  <a:schemeClr val="tx1">
                    <a:lumMod val="95000"/>
                    <a:lumOff val="5000"/>
                  </a:schemeClr>
                </a:solidFill>
              </a:rPr>
              <a:t>①</a:t>
            </a:r>
            <a:r>
              <a:rPr lang="ja-JP" altLang="en-US" sz="2400" b="1">
                <a:solidFill>
                  <a:schemeClr val="tx1">
                    <a:lumMod val="95000"/>
                    <a:lumOff val="5000"/>
                  </a:schemeClr>
                </a:solidFill>
              </a:rPr>
              <a:t>　売上を含む企業価値の向上に資する指標を特定するために</a:t>
            </a:r>
            <a:endParaRPr lang="en-US" altLang="ja-JP" sz="2400" b="1" dirty="0">
              <a:solidFill>
                <a:schemeClr val="tx1">
                  <a:lumMod val="95000"/>
                  <a:lumOff val="5000"/>
                </a:schemeClr>
              </a:solidFill>
            </a:endParaRPr>
          </a:p>
        </p:txBody>
      </p:sp>
      <p:cxnSp>
        <p:nvCxnSpPr>
          <p:cNvPr id="3" name="直線コネクタ 2">
            <a:extLst>
              <a:ext uri="{FF2B5EF4-FFF2-40B4-BE49-F238E27FC236}">
                <a16:creationId xmlns:a16="http://schemas.microsoft.com/office/drawing/2014/main" id="{5CC733D7-ED7F-9DB6-C11D-B2FE535DF1BC}"/>
              </a:ext>
            </a:extLst>
          </p:cNvPr>
          <p:cNvCxnSpPr>
            <a:cxnSpLocks/>
          </p:cNvCxnSpPr>
          <p:nvPr/>
        </p:nvCxnSpPr>
        <p:spPr>
          <a:xfrm>
            <a:off x="104172" y="544010"/>
            <a:ext cx="11991372" cy="0"/>
          </a:xfrm>
          <a:prstGeom prst="line">
            <a:avLst/>
          </a:prstGeom>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sp>
        <p:nvSpPr>
          <p:cNvPr id="4" name="テキスト ボックス 3">
            <a:extLst>
              <a:ext uri="{FF2B5EF4-FFF2-40B4-BE49-F238E27FC236}">
                <a16:creationId xmlns:a16="http://schemas.microsoft.com/office/drawing/2014/main" id="{8D1CBA52-2B2E-3CC4-9DBE-0B5642E4B5C1}"/>
              </a:ext>
            </a:extLst>
          </p:cNvPr>
          <p:cNvSpPr txBox="1"/>
          <p:nvPr/>
        </p:nvSpPr>
        <p:spPr>
          <a:xfrm>
            <a:off x="300943" y="81025"/>
            <a:ext cx="2187614" cy="400110"/>
          </a:xfrm>
          <a:prstGeom prst="rect">
            <a:avLst/>
          </a:prstGeom>
          <a:noFill/>
        </p:spPr>
        <p:txBody>
          <a:bodyPr wrap="square" rtlCol="0">
            <a:spAutoFit/>
          </a:bodyPr>
          <a:lstStyle/>
          <a:p>
            <a:r>
              <a:rPr kumimoji="1" lang="ja-JP" altLang="en-US" sz="2000" b="1">
                <a:solidFill>
                  <a:schemeClr val="tx1">
                    <a:lumMod val="95000"/>
                    <a:lumOff val="5000"/>
                  </a:schemeClr>
                </a:solidFill>
              </a:rPr>
              <a:t>パッケージ</a:t>
            </a:r>
            <a:r>
              <a:rPr kumimoji="1" lang="en-US" altLang="ja-JP" sz="2000" b="1" dirty="0">
                <a:solidFill>
                  <a:schemeClr val="tx1">
                    <a:lumMod val="95000"/>
                    <a:lumOff val="5000"/>
                  </a:schemeClr>
                </a:solidFill>
              </a:rPr>
              <a:t> </a:t>
            </a:r>
            <a:r>
              <a:rPr kumimoji="1" lang="ja-JP" altLang="en-US" sz="2000" b="1">
                <a:solidFill>
                  <a:schemeClr val="tx1">
                    <a:lumMod val="95000"/>
                    <a:lumOff val="5000"/>
                  </a:schemeClr>
                </a:solidFill>
              </a:rPr>
              <a:t>一覧</a:t>
            </a:r>
          </a:p>
        </p:txBody>
      </p:sp>
      <p:sp>
        <p:nvSpPr>
          <p:cNvPr id="7" name="テキスト ボックス 6">
            <a:extLst>
              <a:ext uri="{FF2B5EF4-FFF2-40B4-BE49-F238E27FC236}">
                <a16:creationId xmlns:a16="http://schemas.microsoft.com/office/drawing/2014/main" id="{F7425646-8436-DE52-FCC2-714E70FAD713}"/>
              </a:ext>
            </a:extLst>
          </p:cNvPr>
          <p:cNvSpPr txBox="1"/>
          <p:nvPr/>
        </p:nvSpPr>
        <p:spPr>
          <a:xfrm>
            <a:off x="291297" y="4980495"/>
            <a:ext cx="11609406" cy="461665"/>
          </a:xfrm>
          <a:prstGeom prst="rect">
            <a:avLst/>
          </a:prstGeom>
          <a:noFill/>
        </p:spPr>
        <p:txBody>
          <a:bodyPr wrap="square" rtlCol="0">
            <a:spAutoFit/>
          </a:bodyPr>
          <a:lstStyle/>
          <a:p>
            <a:pPr marL="714375" indent="-714375"/>
            <a:r>
              <a:rPr lang="en-US" altLang="ja-JP" sz="2400" b="1" dirty="0">
                <a:solidFill>
                  <a:schemeClr val="tx1">
                    <a:lumMod val="95000"/>
                    <a:lumOff val="5000"/>
                  </a:schemeClr>
                </a:solidFill>
              </a:rPr>
              <a:t>③</a:t>
            </a:r>
            <a:r>
              <a:rPr lang="ja-JP" altLang="en-US" sz="2400" b="1">
                <a:solidFill>
                  <a:schemeClr val="tx1">
                    <a:lumMod val="95000"/>
                    <a:lumOff val="5000"/>
                  </a:schemeClr>
                </a:solidFill>
              </a:rPr>
              <a:t>　その効果や数値の推移を継続的に計測するために</a:t>
            </a:r>
            <a:endParaRPr lang="en-US" altLang="ja-JP" sz="2400" b="1" dirty="0">
              <a:solidFill>
                <a:schemeClr val="tx1">
                  <a:lumMod val="95000"/>
                  <a:lumOff val="5000"/>
                </a:schemeClr>
              </a:solidFill>
            </a:endParaRPr>
          </a:p>
        </p:txBody>
      </p:sp>
      <p:sp>
        <p:nvSpPr>
          <p:cNvPr id="5" name="正方形/長方形 4">
            <a:extLst>
              <a:ext uri="{FF2B5EF4-FFF2-40B4-BE49-F238E27FC236}">
                <a16:creationId xmlns:a16="http://schemas.microsoft.com/office/drawing/2014/main" id="{546AC3C2-813A-40BD-07C2-EC75A4FF14F9}"/>
              </a:ext>
            </a:extLst>
          </p:cNvPr>
          <p:cNvSpPr/>
          <p:nvPr/>
        </p:nvSpPr>
        <p:spPr>
          <a:xfrm>
            <a:off x="4290781" y="1448035"/>
            <a:ext cx="3629730" cy="1011742"/>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bg1">
                    <a:lumMod val="95000"/>
                  </a:schemeClr>
                </a:solidFill>
              </a:rPr>
              <a:t>＜全社＞</a:t>
            </a:r>
            <a:endParaRPr lang="en-US" altLang="ja-JP" b="1" dirty="0">
              <a:solidFill>
                <a:schemeClr val="bg1">
                  <a:lumMod val="95000"/>
                </a:schemeClr>
              </a:solidFill>
            </a:endParaRPr>
          </a:p>
          <a:p>
            <a:pPr algn="ctr"/>
            <a:r>
              <a:rPr lang="en-US" altLang="ja-JP" dirty="0">
                <a:solidFill>
                  <a:schemeClr val="bg1">
                    <a:lumMod val="95000"/>
                  </a:schemeClr>
                </a:solidFill>
              </a:rPr>
              <a:t>①</a:t>
            </a:r>
            <a:r>
              <a:rPr lang="ja-JP" altLang="en-US">
                <a:solidFill>
                  <a:schemeClr val="bg1">
                    <a:lumMod val="95000"/>
                  </a:schemeClr>
                </a:solidFill>
              </a:rPr>
              <a:t>ポイント制度</a:t>
            </a:r>
            <a:endParaRPr lang="en-US" altLang="ja-JP" dirty="0">
              <a:solidFill>
                <a:schemeClr val="bg1">
                  <a:lumMod val="95000"/>
                </a:schemeClr>
              </a:solidFill>
            </a:endParaRPr>
          </a:p>
        </p:txBody>
      </p:sp>
      <p:grpSp>
        <p:nvGrpSpPr>
          <p:cNvPr id="8" name="グループ化 7">
            <a:extLst>
              <a:ext uri="{FF2B5EF4-FFF2-40B4-BE49-F238E27FC236}">
                <a16:creationId xmlns:a16="http://schemas.microsoft.com/office/drawing/2014/main" id="{D1C2C730-92EA-FAE5-83C6-169E42BE986E}"/>
              </a:ext>
            </a:extLst>
          </p:cNvPr>
          <p:cNvGrpSpPr/>
          <p:nvPr/>
        </p:nvGrpSpPr>
        <p:grpSpPr>
          <a:xfrm>
            <a:off x="281648" y="3487353"/>
            <a:ext cx="11590114" cy="1023774"/>
            <a:chOff x="300943" y="3256506"/>
            <a:chExt cx="11590114" cy="1023774"/>
          </a:xfrm>
        </p:grpSpPr>
        <p:sp>
          <p:nvSpPr>
            <p:cNvPr id="11" name="正方形/長方形 10">
              <a:extLst>
                <a:ext uri="{FF2B5EF4-FFF2-40B4-BE49-F238E27FC236}">
                  <a16:creationId xmlns:a16="http://schemas.microsoft.com/office/drawing/2014/main" id="{23B489D5-B4B2-C8BC-1CD5-7BFE95637192}"/>
                </a:ext>
              </a:extLst>
            </p:cNvPr>
            <p:cNvSpPr/>
            <p:nvPr/>
          </p:nvSpPr>
          <p:spPr>
            <a:xfrm>
              <a:off x="300943" y="3256506"/>
              <a:ext cx="3629730" cy="1011742"/>
            </a:xfrm>
            <a:prstGeom prst="rect">
              <a:avLst/>
            </a:prstGeom>
            <a:solidFill>
              <a:schemeClr val="accent1">
                <a:lumMod val="40000"/>
                <a:lumOff val="6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tx1">
                      <a:lumMod val="95000"/>
                      <a:lumOff val="5000"/>
                    </a:schemeClr>
                  </a:solidFill>
                </a:rPr>
                <a:t>＜一般職員に向けた施策＞</a:t>
              </a:r>
              <a:endParaRPr lang="en-US" altLang="ja-JP" b="1" dirty="0">
                <a:solidFill>
                  <a:schemeClr val="tx1">
                    <a:lumMod val="95000"/>
                    <a:lumOff val="5000"/>
                  </a:schemeClr>
                </a:solidFill>
              </a:endParaRPr>
            </a:p>
            <a:p>
              <a:pPr algn="ctr"/>
              <a:r>
                <a:rPr lang="en-US" altLang="ja-JP" dirty="0">
                  <a:solidFill>
                    <a:schemeClr val="tx1">
                      <a:lumMod val="95000"/>
                      <a:lumOff val="5000"/>
                    </a:schemeClr>
                  </a:solidFill>
                </a:rPr>
                <a:t>②48</a:t>
              </a:r>
              <a:r>
                <a:rPr lang="ja-JP" altLang="en-US">
                  <a:solidFill>
                    <a:schemeClr val="tx1">
                      <a:lumMod val="95000"/>
                      <a:lumOff val="5000"/>
                    </a:schemeClr>
                  </a:solidFill>
                </a:rPr>
                <a:t>時間挑戦</a:t>
              </a:r>
              <a:endParaRPr lang="en-US" altLang="ja-JP" dirty="0">
                <a:solidFill>
                  <a:schemeClr val="tx1">
                    <a:lumMod val="95000"/>
                    <a:lumOff val="5000"/>
                  </a:schemeClr>
                </a:solidFill>
              </a:endParaRPr>
            </a:p>
            <a:p>
              <a:pPr algn="ctr"/>
              <a:r>
                <a:rPr lang="en-US" altLang="ja-JP" dirty="0">
                  <a:solidFill>
                    <a:schemeClr val="tx1">
                      <a:lumMod val="95000"/>
                      <a:lumOff val="5000"/>
                    </a:schemeClr>
                  </a:solidFill>
                </a:rPr>
                <a:t>③</a:t>
              </a:r>
              <a:r>
                <a:rPr lang="ja-JP" altLang="en-US">
                  <a:solidFill>
                    <a:schemeClr val="tx1">
                      <a:lumMod val="95000"/>
                      <a:lumOff val="5000"/>
                    </a:schemeClr>
                  </a:solidFill>
                </a:rPr>
                <a:t>ストレッチゴール制度</a:t>
              </a:r>
              <a:endParaRPr lang="en-US" altLang="ja-JP" dirty="0">
                <a:solidFill>
                  <a:schemeClr val="tx1">
                    <a:lumMod val="95000"/>
                    <a:lumOff val="5000"/>
                  </a:schemeClr>
                </a:solidFill>
              </a:endParaRPr>
            </a:p>
          </p:txBody>
        </p:sp>
        <p:sp>
          <p:nvSpPr>
            <p:cNvPr id="12" name="正方形/長方形 11">
              <a:extLst>
                <a:ext uri="{FF2B5EF4-FFF2-40B4-BE49-F238E27FC236}">
                  <a16:creationId xmlns:a16="http://schemas.microsoft.com/office/drawing/2014/main" id="{E3844FCA-EE9D-04F9-4D4C-94CCE15A8E70}"/>
                </a:ext>
              </a:extLst>
            </p:cNvPr>
            <p:cNvSpPr/>
            <p:nvPr/>
          </p:nvSpPr>
          <p:spPr>
            <a:xfrm>
              <a:off x="4281134" y="3256506"/>
              <a:ext cx="3629731" cy="1011742"/>
            </a:xfrm>
            <a:prstGeom prst="rect">
              <a:avLst/>
            </a:prstGeom>
            <a:solidFill>
              <a:schemeClr val="accent1">
                <a:lumMod val="40000"/>
                <a:lumOff val="6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tx1">
                      <a:lumMod val="95000"/>
                      <a:lumOff val="5000"/>
                    </a:schemeClr>
                  </a:solidFill>
                </a:rPr>
                <a:t>＜部門長に向けた施策＞</a:t>
              </a:r>
              <a:endParaRPr lang="en-US" altLang="ja-JP" b="1" dirty="0">
                <a:solidFill>
                  <a:schemeClr val="tx1">
                    <a:lumMod val="95000"/>
                    <a:lumOff val="5000"/>
                  </a:schemeClr>
                </a:solidFill>
              </a:endParaRPr>
            </a:p>
            <a:p>
              <a:pPr algn="ctr"/>
              <a:r>
                <a:rPr lang="en-US" altLang="ja-JP" dirty="0">
                  <a:solidFill>
                    <a:schemeClr val="tx1">
                      <a:lumMod val="95000"/>
                      <a:lumOff val="5000"/>
                    </a:schemeClr>
                  </a:solidFill>
                </a:rPr>
                <a:t>④</a:t>
              </a:r>
              <a:r>
                <a:rPr lang="ja-JP" altLang="en-US">
                  <a:solidFill>
                    <a:schemeClr val="tx1">
                      <a:lumMod val="95000"/>
                      <a:lumOff val="5000"/>
                    </a:schemeClr>
                  </a:solidFill>
                </a:rPr>
                <a:t>部門長アクセラレーター</a:t>
              </a:r>
              <a:endParaRPr lang="en-US" altLang="ja-JP" dirty="0">
                <a:solidFill>
                  <a:schemeClr val="tx1">
                    <a:lumMod val="95000"/>
                    <a:lumOff val="5000"/>
                  </a:schemeClr>
                </a:solidFill>
              </a:endParaRPr>
            </a:p>
          </p:txBody>
        </p:sp>
        <p:sp>
          <p:nvSpPr>
            <p:cNvPr id="13" name="正方形/長方形 12">
              <a:extLst>
                <a:ext uri="{FF2B5EF4-FFF2-40B4-BE49-F238E27FC236}">
                  <a16:creationId xmlns:a16="http://schemas.microsoft.com/office/drawing/2014/main" id="{DE875A1A-32D9-F393-8C07-C30058A6055E}"/>
                </a:ext>
              </a:extLst>
            </p:cNvPr>
            <p:cNvSpPr/>
            <p:nvPr/>
          </p:nvSpPr>
          <p:spPr>
            <a:xfrm>
              <a:off x="8261326" y="3268538"/>
              <a:ext cx="3629731" cy="1011742"/>
            </a:xfrm>
            <a:prstGeom prst="rect">
              <a:avLst/>
            </a:prstGeom>
            <a:solidFill>
              <a:schemeClr val="accent1">
                <a:lumMod val="40000"/>
                <a:lumOff val="6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tx1">
                      <a:lumMod val="95000"/>
                      <a:lumOff val="5000"/>
                    </a:schemeClr>
                  </a:solidFill>
                </a:rPr>
                <a:t>＜経営層に向けた施策＞</a:t>
              </a:r>
              <a:endParaRPr lang="en-US" altLang="ja-JP" b="1" dirty="0">
                <a:solidFill>
                  <a:schemeClr val="tx1">
                    <a:lumMod val="95000"/>
                    <a:lumOff val="5000"/>
                  </a:schemeClr>
                </a:solidFill>
              </a:endParaRPr>
            </a:p>
            <a:p>
              <a:pPr algn="ctr"/>
              <a:r>
                <a:rPr lang="en-US" altLang="ja-JP" dirty="0">
                  <a:solidFill>
                    <a:schemeClr val="tx1">
                      <a:lumMod val="95000"/>
                      <a:lumOff val="5000"/>
                    </a:schemeClr>
                  </a:solidFill>
                </a:rPr>
                <a:t>⑤</a:t>
              </a:r>
              <a:r>
                <a:rPr lang="ja-JP" altLang="en-US">
                  <a:solidFill>
                    <a:schemeClr val="tx1">
                      <a:lumMod val="95000"/>
                      <a:lumOff val="5000"/>
                    </a:schemeClr>
                  </a:solidFill>
                </a:rPr>
                <a:t>失敗の表彰</a:t>
              </a:r>
            </a:p>
          </p:txBody>
        </p:sp>
      </p:grpSp>
      <p:sp>
        <p:nvSpPr>
          <p:cNvPr id="14" name="正方形/長方形 13">
            <a:extLst>
              <a:ext uri="{FF2B5EF4-FFF2-40B4-BE49-F238E27FC236}">
                <a16:creationId xmlns:a16="http://schemas.microsoft.com/office/drawing/2014/main" id="{ED797BFF-AEEB-93AB-7C7D-019C7E004C72}"/>
              </a:ext>
            </a:extLst>
          </p:cNvPr>
          <p:cNvSpPr/>
          <p:nvPr/>
        </p:nvSpPr>
        <p:spPr>
          <a:xfrm>
            <a:off x="4281133" y="5485784"/>
            <a:ext cx="3629731" cy="1011742"/>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bg1">
                    <a:lumMod val="95000"/>
                  </a:schemeClr>
                </a:solidFill>
              </a:rPr>
              <a:t>＜全社＞</a:t>
            </a:r>
            <a:endParaRPr lang="en-US" altLang="ja-JP" b="1" dirty="0">
              <a:solidFill>
                <a:schemeClr val="bg1">
                  <a:lumMod val="95000"/>
                </a:schemeClr>
              </a:solidFill>
            </a:endParaRPr>
          </a:p>
          <a:p>
            <a:pPr algn="ctr"/>
            <a:r>
              <a:rPr lang="ja-JP" altLang="en-US">
                <a:solidFill>
                  <a:schemeClr val="bg1">
                    <a:lumMod val="95000"/>
                  </a:schemeClr>
                </a:solidFill>
              </a:rPr>
              <a:t>　</a:t>
            </a:r>
            <a:r>
              <a:rPr lang="en-US" altLang="ja-JP" dirty="0">
                <a:solidFill>
                  <a:schemeClr val="bg1">
                    <a:lumMod val="95000"/>
                  </a:schemeClr>
                </a:solidFill>
              </a:rPr>
              <a:t>⑥</a:t>
            </a:r>
            <a:r>
              <a:rPr lang="ja-JP" altLang="en-US">
                <a:solidFill>
                  <a:schemeClr val="bg1">
                    <a:lumMod val="95000"/>
                  </a:schemeClr>
                </a:solidFill>
              </a:rPr>
              <a:t>ダッシュボード</a:t>
            </a:r>
          </a:p>
        </p:txBody>
      </p:sp>
      <p:sp>
        <p:nvSpPr>
          <p:cNvPr id="6" name="テキスト ボックス 5">
            <a:extLst>
              <a:ext uri="{FF2B5EF4-FFF2-40B4-BE49-F238E27FC236}">
                <a16:creationId xmlns:a16="http://schemas.microsoft.com/office/drawing/2014/main" id="{F00E9774-F037-69C8-5C5D-A3D760D4A79E}"/>
              </a:ext>
            </a:extLst>
          </p:cNvPr>
          <p:cNvSpPr txBox="1"/>
          <p:nvPr/>
        </p:nvSpPr>
        <p:spPr>
          <a:xfrm>
            <a:off x="281648" y="2867473"/>
            <a:ext cx="11609406" cy="461665"/>
          </a:xfrm>
          <a:prstGeom prst="rect">
            <a:avLst/>
          </a:prstGeom>
          <a:noFill/>
        </p:spPr>
        <p:txBody>
          <a:bodyPr wrap="square" rtlCol="0">
            <a:spAutoFit/>
          </a:bodyPr>
          <a:lstStyle/>
          <a:p>
            <a:pPr marL="714375" indent="-714375"/>
            <a:r>
              <a:rPr lang="en-US" altLang="ja-JP" sz="2400" b="1" dirty="0">
                <a:solidFill>
                  <a:schemeClr val="tx1">
                    <a:lumMod val="95000"/>
                    <a:lumOff val="5000"/>
                  </a:schemeClr>
                </a:solidFill>
              </a:rPr>
              <a:t>②</a:t>
            </a:r>
            <a:r>
              <a:rPr lang="ja-JP" altLang="en-US" sz="2400" b="1">
                <a:solidFill>
                  <a:schemeClr val="tx1">
                    <a:lumMod val="95000"/>
                    <a:lumOff val="5000"/>
                  </a:schemeClr>
                </a:solidFill>
              </a:rPr>
              <a:t>　当該指標を達成するために必要な施策や考え方を導入するために</a:t>
            </a:r>
            <a:endParaRPr lang="en-US" altLang="ja-JP" sz="2400" b="1" dirty="0">
              <a:solidFill>
                <a:schemeClr val="tx1">
                  <a:lumMod val="95000"/>
                  <a:lumOff val="5000"/>
                </a:schemeClr>
              </a:solidFill>
            </a:endParaRPr>
          </a:p>
        </p:txBody>
      </p:sp>
    </p:spTree>
    <p:extLst>
      <p:ext uri="{BB962C8B-B14F-4D97-AF65-F5344CB8AC3E}">
        <p14:creationId xmlns:p14="http://schemas.microsoft.com/office/powerpoint/2010/main" val="628812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3A16C518-EBAF-4BF2-7E2D-15935492B741}"/>
              </a:ext>
            </a:extLst>
          </p:cNvPr>
          <p:cNvCxnSpPr>
            <a:cxnSpLocks/>
          </p:cNvCxnSpPr>
          <p:nvPr/>
        </p:nvCxnSpPr>
        <p:spPr>
          <a:xfrm>
            <a:off x="104172" y="544010"/>
            <a:ext cx="11991372"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テキスト ボックス 2">
            <a:extLst>
              <a:ext uri="{FF2B5EF4-FFF2-40B4-BE49-F238E27FC236}">
                <a16:creationId xmlns:a16="http://schemas.microsoft.com/office/drawing/2014/main" id="{E5CC1757-880E-4687-478D-CD9700DEC92E}"/>
              </a:ext>
            </a:extLst>
          </p:cNvPr>
          <p:cNvSpPr txBox="1"/>
          <p:nvPr/>
        </p:nvSpPr>
        <p:spPr>
          <a:xfrm>
            <a:off x="300944" y="81025"/>
            <a:ext cx="4664595" cy="400110"/>
          </a:xfrm>
          <a:prstGeom prst="rect">
            <a:avLst/>
          </a:prstGeom>
          <a:noFill/>
        </p:spPr>
        <p:txBody>
          <a:bodyPr wrap="square" rtlCol="0">
            <a:spAutoFit/>
          </a:bodyPr>
          <a:lstStyle/>
          <a:p>
            <a:r>
              <a:rPr kumimoji="1" lang="en-US" altLang="ja-JP" sz="2000" b="1" dirty="0">
                <a:solidFill>
                  <a:schemeClr val="bg1">
                    <a:lumMod val="85000"/>
                  </a:schemeClr>
                </a:solidFill>
              </a:rPr>
              <a:t>①</a:t>
            </a:r>
            <a:r>
              <a:rPr kumimoji="1" lang="ja-JP" altLang="en-US" sz="2000" b="1">
                <a:solidFill>
                  <a:schemeClr val="bg1">
                    <a:lumMod val="85000"/>
                  </a:schemeClr>
                </a:solidFill>
              </a:rPr>
              <a:t>ポイント制度（全社）</a:t>
            </a:r>
          </a:p>
        </p:txBody>
      </p:sp>
      <p:grpSp>
        <p:nvGrpSpPr>
          <p:cNvPr id="15" name="グループ化 14">
            <a:extLst>
              <a:ext uri="{FF2B5EF4-FFF2-40B4-BE49-F238E27FC236}">
                <a16:creationId xmlns:a16="http://schemas.microsoft.com/office/drawing/2014/main" id="{893D042F-2288-F5FA-8D1C-00DD3DC4D64B}"/>
              </a:ext>
            </a:extLst>
          </p:cNvPr>
          <p:cNvGrpSpPr/>
          <p:nvPr/>
        </p:nvGrpSpPr>
        <p:grpSpPr>
          <a:xfrm>
            <a:off x="464917" y="879675"/>
            <a:ext cx="11262165" cy="5586715"/>
            <a:chOff x="567161" y="914399"/>
            <a:chExt cx="11262165" cy="5586715"/>
          </a:xfrm>
        </p:grpSpPr>
        <p:sp>
          <p:nvSpPr>
            <p:cNvPr id="5" name="正方形/長方形 4">
              <a:extLst>
                <a:ext uri="{FF2B5EF4-FFF2-40B4-BE49-F238E27FC236}">
                  <a16:creationId xmlns:a16="http://schemas.microsoft.com/office/drawing/2014/main" id="{B3F48D86-B6F0-7656-ED3A-7B03544DAC14}"/>
                </a:ext>
              </a:extLst>
            </p:cNvPr>
            <p:cNvSpPr/>
            <p:nvPr/>
          </p:nvSpPr>
          <p:spPr>
            <a:xfrm>
              <a:off x="567161" y="914399"/>
              <a:ext cx="1551008"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bg1">
                      <a:lumMod val="95000"/>
                    </a:schemeClr>
                  </a:solidFill>
                </a:rPr>
                <a:t>概要</a:t>
              </a:r>
            </a:p>
          </p:txBody>
        </p:sp>
        <p:sp>
          <p:nvSpPr>
            <p:cNvPr id="6" name="正方形/長方形 5">
              <a:extLst>
                <a:ext uri="{FF2B5EF4-FFF2-40B4-BE49-F238E27FC236}">
                  <a16:creationId xmlns:a16="http://schemas.microsoft.com/office/drawing/2014/main" id="{F72739A6-356C-DEAC-9819-EACF5DB239C7}"/>
                </a:ext>
              </a:extLst>
            </p:cNvPr>
            <p:cNvSpPr/>
            <p:nvPr/>
          </p:nvSpPr>
          <p:spPr>
            <a:xfrm>
              <a:off x="567161" y="1975972"/>
              <a:ext cx="1551008"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bg1">
                      <a:lumMod val="95000"/>
                    </a:schemeClr>
                  </a:solidFill>
                </a:rPr>
                <a:t>仮説</a:t>
              </a:r>
              <a:endParaRPr kumimoji="1" lang="ja-JP" altLang="en-US" b="1">
                <a:solidFill>
                  <a:schemeClr val="bg1">
                    <a:lumMod val="95000"/>
                  </a:schemeClr>
                </a:solidFill>
              </a:endParaRPr>
            </a:p>
          </p:txBody>
        </p:sp>
        <p:sp>
          <p:nvSpPr>
            <p:cNvPr id="7" name="正方形/長方形 6">
              <a:extLst>
                <a:ext uri="{FF2B5EF4-FFF2-40B4-BE49-F238E27FC236}">
                  <a16:creationId xmlns:a16="http://schemas.microsoft.com/office/drawing/2014/main" id="{A4566723-0DC8-2635-FC3A-F1F6154A33FF}"/>
                </a:ext>
              </a:extLst>
            </p:cNvPr>
            <p:cNvSpPr/>
            <p:nvPr/>
          </p:nvSpPr>
          <p:spPr>
            <a:xfrm>
              <a:off x="567161" y="3037545"/>
              <a:ext cx="1551008"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bg1">
                      <a:lumMod val="95000"/>
                    </a:schemeClr>
                  </a:solidFill>
                </a:rPr>
                <a:t>対象</a:t>
              </a:r>
              <a:endParaRPr kumimoji="1" lang="ja-JP" altLang="en-US" b="1">
                <a:solidFill>
                  <a:schemeClr val="bg1">
                    <a:lumMod val="95000"/>
                  </a:schemeClr>
                </a:solidFill>
              </a:endParaRPr>
            </a:p>
          </p:txBody>
        </p:sp>
        <p:sp>
          <p:nvSpPr>
            <p:cNvPr id="8" name="正方形/長方形 7">
              <a:extLst>
                <a:ext uri="{FF2B5EF4-FFF2-40B4-BE49-F238E27FC236}">
                  <a16:creationId xmlns:a16="http://schemas.microsoft.com/office/drawing/2014/main" id="{040ADA32-F2D4-4444-9A89-0D12CDAA3828}"/>
                </a:ext>
              </a:extLst>
            </p:cNvPr>
            <p:cNvSpPr/>
            <p:nvPr/>
          </p:nvSpPr>
          <p:spPr>
            <a:xfrm>
              <a:off x="567161" y="4098808"/>
              <a:ext cx="1551008"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bg1">
                      <a:lumMod val="95000"/>
                    </a:schemeClr>
                  </a:solidFill>
                </a:rPr>
                <a:t>達成基準</a:t>
              </a:r>
              <a:endParaRPr kumimoji="1" lang="ja-JP" altLang="en-US" b="1">
                <a:solidFill>
                  <a:schemeClr val="bg1">
                    <a:lumMod val="95000"/>
                  </a:schemeClr>
                </a:solidFill>
              </a:endParaRPr>
            </a:p>
          </p:txBody>
        </p:sp>
        <p:sp>
          <p:nvSpPr>
            <p:cNvPr id="9" name="正方形/長方形 8">
              <a:extLst>
                <a:ext uri="{FF2B5EF4-FFF2-40B4-BE49-F238E27FC236}">
                  <a16:creationId xmlns:a16="http://schemas.microsoft.com/office/drawing/2014/main" id="{0946D3C0-E4A2-C188-7E3B-DBC44A4549E8}"/>
                </a:ext>
              </a:extLst>
            </p:cNvPr>
            <p:cNvSpPr/>
            <p:nvPr/>
          </p:nvSpPr>
          <p:spPr>
            <a:xfrm>
              <a:off x="567161" y="5160071"/>
              <a:ext cx="1551008" cy="134104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accent1">
                      <a:lumMod val="60000"/>
                      <a:lumOff val="40000"/>
                    </a:schemeClr>
                  </a:solidFill>
                </a:rPr>
                <a:t>検討事項</a:t>
              </a:r>
              <a:endParaRPr kumimoji="1" lang="ja-JP" altLang="en-US" b="1">
                <a:solidFill>
                  <a:schemeClr val="accent1">
                    <a:lumMod val="60000"/>
                    <a:lumOff val="40000"/>
                  </a:schemeClr>
                </a:solidFill>
              </a:endParaRPr>
            </a:p>
          </p:txBody>
        </p:sp>
        <p:sp>
          <p:nvSpPr>
            <p:cNvPr id="10" name="正方形/長方形 9">
              <a:extLst>
                <a:ext uri="{FF2B5EF4-FFF2-40B4-BE49-F238E27FC236}">
                  <a16:creationId xmlns:a16="http://schemas.microsoft.com/office/drawing/2014/main" id="{B8BAC8C8-B727-1AF6-47D3-CBA247ED3EF0}"/>
                </a:ext>
              </a:extLst>
            </p:cNvPr>
            <p:cNvSpPr/>
            <p:nvPr/>
          </p:nvSpPr>
          <p:spPr>
            <a:xfrm>
              <a:off x="2502061" y="914399"/>
              <a:ext cx="9327265"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bg1">
                      <a:lumMod val="95000"/>
                    </a:schemeClr>
                  </a:solidFill>
                </a:rPr>
                <a:t>　既存の人事評価制度では拾えなかった「挑戦・失敗・助け合い」を可視化し、ポイントとして承認することで、</a:t>
              </a:r>
              <a:r>
                <a:rPr lang="ja-JP" altLang="en-US" b="1">
                  <a:solidFill>
                    <a:schemeClr val="bg1">
                      <a:lumMod val="95000"/>
                    </a:schemeClr>
                  </a:solidFill>
                </a:rPr>
                <a:t>全社的に「挑戦・失敗・助け合い」の文化を醸成する</a:t>
              </a:r>
              <a:r>
                <a:rPr lang="ja-JP" altLang="en-US">
                  <a:solidFill>
                    <a:schemeClr val="bg1">
                      <a:lumMod val="95000"/>
                    </a:schemeClr>
                  </a:solidFill>
                </a:rPr>
                <a:t>ための制度</a:t>
              </a:r>
              <a:endParaRPr lang="en-US" altLang="ja-JP" dirty="0">
                <a:solidFill>
                  <a:schemeClr val="bg1">
                    <a:lumMod val="95000"/>
                  </a:schemeClr>
                </a:solidFill>
              </a:endParaRPr>
            </a:p>
          </p:txBody>
        </p:sp>
        <p:sp>
          <p:nvSpPr>
            <p:cNvPr id="11" name="正方形/長方形 10">
              <a:extLst>
                <a:ext uri="{FF2B5EF4-FFF2-40B4-BE49-F238E27FC236}">
                  <a16:creationId xmlns:a16="http://schemas.microsoft.com/office/drawing/2014/main" id="{FD4E0E27-5424-4D7D-98E0-F1EDD67085F7}"/>
                </a:ext>
              </a:extLst>
            </p:cNvPr>
            <p:cNvSpPr/>
            <p:nvPr/>
          </p:nvSpPr>
          <p:spPr>
            <a:xfrm>
              <a:off x="2502058" y="1975817"/>
              <a:ext cx="9327265"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bg1">
                      <a:lumMod val="95000"/>
                    </a:schemeClr>
                  </a:solidFill>
                </a:rPr>
                <a:t>　こうした文化が醸成されれば、エンゲージメントが向上し、一人当たりの生産性が上がり、最終的に企業価値の増加につながるのではないか</a:t>
              </a:r>
              <a:endParaRPr lang="en-US" altLang="ja-JP" dirty="0">
                <a:solidFill>
                  <a:schemeClr val="bg1">
                    <a:lumMod val="95000"/>
                  </a:schemeClr>
                </a:solidFill>
              </a:endParaRPr>
            </a:p>
          </p:txBody>
        </p:sp>
        <p:sp>
          <p:nvSpPr>
            <p:cNvPr id="12" name="正方形/長方形 11">
              <a:extLst>
                <a:ext uri="{FF2B5EF4-FFF2-40B4-BE49-F238E27FC236}">
                  <a16:creationId xmlns:a16="http://schemas.microsoft.com/office/drawing/2014/main" id="{98686134-4DB3-BDB0-9AF3-42E5599D2CFE}"/>
                </a:ext>
              </a:extLst>
            </p:cNvPr>
            <p:cNvSpPr/>
            <p:nvPr/>
          </p:nvSpPr>
          <p:spPr>
            <a:xfrm>
              <a:off x="2502058" y="3042523"/>
              <a:ext cx="9327265"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bg1">
                      <a:lumMod val="95000"/>
                    </a:schemeClr>
                  </a:solidFill>
                </a:rPr>
                <a:t>　全社員</a:t>
              </a:r>
              <a:endParaRPr lang="en-US" altLang="ja-JP" dirty="0">
                <a:solidFill>
                  <a:schemeClr val="bg1">
                    <a:lumMod val="95000"/>
                  </a:schemeClr>
                </a:solidFill>
              </a:endParaRPr>
            </a:p>
          </p:txBody>
        </p:sp>
        <p:sp>
          <p:nvSpPr>
            <p:cNvPr id="13" name="正方形/長方形 12">
              <a:extLst>
                <a:ext uri="{FF2B5EF4-FFF2-40B4-BE49-F238E27FC236}">
                  <a16:creationId xmlns:a16="http://schemas.microsoft.com/office/drawing/2014/main" id="{E4432BA7-B302-A640-FBD0-9104B455A999}"/>
                </a:ext>
              </a:extLst>
            </p:cNvPr>
            <p:cNvSpPr/>
            <p:nvPr/>
          </p:nvSpPr>
          <p:spPr>
            <a:xfrm>
              <a:off x="2502058" y="4098807"/>
              <a:ext cx="9327265"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bg1">
                      <a:lumMod val="95000"/>
                    </a:schemeClr>
                  </a:solidFill>
                </a:rPr>
                <a:t>　</a:t>
              </a:r>
              <a:r>
                <a:rPr lang="en-US" altLang="ja-JP" dirty="0">
                  <a:solidFill>
                    <a:schemeClr val="bg1">
                      <a:lumMod val="95000"/>
                    </a:schemeClr>
                  </a:solidFill>
                </a:rPr>
                <a:t>26</a:t>
              </a:r>
              <a:r>
                <a:rPr lang="ja-JP" altLang="en-US">
                  <a:solidFill>
                    <a:schemeClr val="bg1">
                      <a:lumMod val="95000"/>
                    </a:schemeClr>
                  </a:solidFill>
                </a:rPr>
                <a:t>年度</a:t>
              </a:r>
              <a:r>
                <a:rPr lang="en-US" altLang="ja-JP" dirty="0">
                  <a:solidFill>
                    <a:schemeClr val="bg1">
                      <a:lumMod val="95000"/>
                    </a:schemeClr>
                  </a:solidFill>
                </a:rPr>
                <a:t>6,000P</a:t>
              </a:r>
              <a:r>
                <a:rPr lang="ja-JP" altLang="en-US">
                  <a:solidFill>
                    <a:schemeClr val="bg1">
                      <a:lumMod val="95000"/>
                    </a:schemeClr>
                  </a:solidFill>
                </a:rPr>
                <a:t>、</a:t>
              </a:r>
              <a:r>
                <a:rPr lang="en-US" altLang="ja-JP" dirty="0">
                  <a:solidFill>
                    <a:schemeClr val="bg1">
                      <a:lumMod val="95000"/>
                    </a:schemeClr>
                  </a:solidFill>
                </a:rPr>
                <a:t>27</a:t>
              </a:r>
              <a:r>
                <a:rPr lang="ja-JP" altLang="en-US">
                  <a:solidFill>
                    <a:schemeClr val="bg1">
                      <a:lumMod val="95000"/>
                    </a:schemeClr>
                  </a:solidFill>
                </a:rPr>
                <a:t>年度</a:t>
              </a:r>
              <a:r>
                <a:rPr lang="en-US" altLang="ja-JP" dirty="0">
                  <a:solidFill>
                    <a:schemeClr val="bg1">
                      <a:lumMod val="95000"/>
                    </a:schemeClr>
                  </a:solidFill>
                </a:rPr>
                <a:t>10,000P</a:t>
              </a:r>
              <a:r>
                <a:rPr lang="ja-JP" altLang="en-US">
                  <a:solidFill>
                    <a:schemeClr val="bg1">
                      <a:lumMod val="95000"/>
                    </a:schemeClr>
                  </a:solidFill>
                </a:rPr>
                <a:t>（</a:t>
              </a:r>
              <a:r>
                <a:rPr lang="en-US" altLang="ja-JP" dirty="0">
                  <a:solidFill>
                    <a:schemeClr val="bg1">
                      <a:lumMod val="95000"/>
                    </a:schemeClr>
                  </a:solidFill>
                </a:rPr>
                <a:t>1P</a:t>
              </a:r>
              <a:r>
                <a:rPr lang="ja-JP" altLang="en-US">
                  <a:solidFill>
                    <a:schemeClr val="bg1">
                      <a:lumMod val="95000"/>
                    </a:schemeClr>
                  </a:solidFill>
                </a:rPr>
                <a:t>＝</a:t>
              </a:r>
              <a:r>
                <a:rPr lang="en-US" altLang="ja-JP" dirty="0">
                  <a:solidFill>
                    <a:schemeClr val="bg1">
                      <a:lumMod val="95000"/>
                    </a:schemeClr>
                  </a:solidFill>
                </a:rPr>
                <a:t>100,000</a:t>
              </a:r>
              <a:r>
                <a:rPr lang="ja-JP" altLang="en-US">
                  <a:solidFill>
                    <a:schemeClr val="bg1">
                      <a:lumMod val="95000"/>
                    </a:schemeClr>
                  </a:solidFill>
                </a:rPr>
                <a:t>円相当）</a:t>
              </a:r>
              <a:endParaRPr lang="en-US" altLang="ja-JP" dirty="0">
                <a:solidFill>
                  <a:schemeClr val="bg1">
                    <a:lumMod val="95000"/>
                  </a:schemeClr>
                </a:solidFill>
              </a:endParaRPr>
            </a:p>
          </p:txBody>
        </p:sp>
        <p:sp>
          <p:nvSpPr>
            <p:cNvPr id="14" name="正方形/長方形 13">
              <a:extLst>
                <a:ext uri="{FF2B5EF4-FFF2-40B4-BE49-F238E27FC236}">
                  <a16:creationId xmlns:a16="http://schemas.microsoft.com/office/drawing/2014/main" id="{A086520F-EE0A-CCCE-75EC-9515A6D3972D}"/>
                </a:ext>
              </a:extLst>
            </p:cNvPr>
            <p:cNvSpPr/>
            <p:nvPr/>
          </p:nvSpPr>
          <p:spPr>
            <a:xfrm>
              <a:off x="2502058" y="5155092"/>
              <a:ext cx="9327264" cy="134602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b="1">
                  <a:solidFill>
                    <a:schemeClr val="accent1">
                      <a:lumMod val="60000"/>
                      <a:lumOff val="40000"/>
                    </a:schemeClr>
                  </a:solidFill>
                </a:rPr>
                <a:t>・どの行動に対して、どのような基準を設けて評価するのか？</a:t>
              </a:r>
              <a:endParaRPr lang="en-US" altLang="ja-JP" b="1" dirty="0">
                <a:solidFill>
                  <a:schemeClr val="accent1">
                    <a:lumMod val="60000"/>
                    <a:lumOff val="40000"/>
                  </a:schemeClr>
                </a:solidFill>
              </a:endParaRPr>
            </a:p>
            <a:p>
              <a:r>
                <a:rPr lang="ja-JP" altLang="en-US" b="1">
                  <a:solidFill>
                    <a:schemeClr val="accent1">
                      <a:lumMod val="60000"/>
                      <a:lumOff val="40000"/>
                    </a:schemeClr>
                  </a:solidFill>
                </a:rPr>
                <a:t>・どう現場が自分事として捉えて、行動変容を促すことができるか？</a:t>
              </a:r>
              <a:endParaRPr lang="en-US" altLang="ja-JP" b="1" dirty="0">
                <a:solidFill>
                  <a:schemeClr val="accent1">
                    <a:lumMod val="60000"/>
                    <a:lumOff val="40000"/>
                  </a:schemeClr>
                </a:solidFill>
              </a:endParaRPr>
            </a:p>
            <a:p>
              <a:r>
                <a:rPr lang="ja-JP" altLang="en-US" b="1">
                  <a:solidFill>
                    <a:schemeClr val="accent1">
                      <a:lumMod val="60000"/>
                      <a:lumOff val="40000"/>
                    </a:schemeClr>
                  </a:solidFill>
                </a:rPr>
                <a:t>・こうした小さな行動が、経営指標（売上）にどう結びつくのか？</a:t>
              </a:r>
              <a:endParaRPr lang="en-US" altLang="ja-JP" b="1" dirty="0">
                <a:solidFill>
                  <a:schemeClr val="accent1">
                    <a:lumMod val="60000"/>
                    <a:lumOff val="40000"/>
                  </a:schemeClr>
                </a:solidFill>
              </a:endParaRPr>
            </a:p>
            <a:p>
              <a:r>
                <a:rPr lang="ja-JP" altLang="en-US" b="1">
                  <a:solidFill>
                    <a:schemeClr val="accent1">
                      <a:lumMod val="60000"/>
                      <a:lumOff val="40000"/>
                    </a:schemeClr>
                  </a:solidFill>
                </a:rPr>
                <a:t>・</a:t>
              </a:r>
              <a:r>
                <a:rPr kumimoji="1" lang="en-US" altLang="ja-JP" b="1" dirty="0">
                  <a:solidFill>
                    <a:schemeClr val="accent1">
                      <a:lumMod val="60000"/>
                      <a:lumOff val="40000"/>
                    </a:schemeClr>
                  </a:solidFill>
                </a:rPr>
                <a:t>28.03</a:t>
              </a:r>
              <a:r>
                <a:rPr kumimoji="1" lang="ja-JP" altLang="en-US" b="1">
                  <a:solidFill>
                    <a:schemeClr val="accent1">
                      <a:lumMod val="60000"/>
                      <a:lumOff val="40000"/>
                    </a:schemeClr>
                  </a:solidFill>
                </a:rPr>
                <a:t>までに、どう中計に組み込むか？</a:t>
              </a:r>
            </a:p>
          </p:txBody>
        </p:sp>
      </p:grpSp>
    </p:spTree>
    <p:extLst>
      <p:ext uri="{BB962C8B-B14F-4D97-AF65-F5344CB8AC3E}">
        <p14:creationId xmlns:p14="http://schemas.microsoft.com/office/powerpoint/2010/main" val="22411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B02DA-273F-E133-DED1-F41924D93E2C}"/>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B5F1E944-C743-BD52-4E9F-C775406FD64D}"/>
              </a:ext>
            </a:extLst>
          </p:cNvPr>
          <p:cNvCxnSpPr>
            <a:cxnSpLocks/>
          </p:cNvCxnSpPr>
          <p:nvPr/>
        </p:nvCxnSpPr>
        <p:spPr>
          <a:xfrm>
            <a:off x="104172" y="544010"/>
            <a:ext cx="11991372"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テキスト ボックス 2">
            <a:extLst>
              <a:ext uri="{FF2B5EF4-FFF2-40B4-BE49-F238E27FC236}">
                <a16:creationId xmlns:a16="http://schemas.microsoft.com/office/drawing/2014/main" id="{97A2F950-47B1-FF30-C908-AD2B4364B3D1}"/>
              </a:ext>
            </a:extLst>
          </p:cNvPr>
          <p:cNvSpPr txBox="1"/>
          <p:nvPr/>
        </p:nvSpPr>
        <p:spPr>
          <a:xfrm>
            <a:off x="300944" y="81025"/>
            <a:ext cx="4849790" cy="400110"/>
          </a:xfrm>
          <a:prstGeom prst="rect">
            <a:avLst/>
          </a:prstGeom>
          <a:noFill/>
        </p:spPr>
        <p:txBody>
          <a:bodyPr wrap="square" rtlCol="0">
            <a:spAutoFit/>
          </a:bodyPr>
          <a:lstStyle/>
          <a:p>
            <a:r>
              <a:rPr lang="en-US" altLang="ja-JP" sz="2000" b="1" dirty="0">
                <a:solidFill>
                  <a:schemeClr val="bg1">
                    <a:lumMod val="85000"/>
                  </a:schemeClr>
                </a:solidFill>
              </a:rPr>
              <a:t>②</a:t>
            </a:r>
            <a:r>
              <a:rPr kumimoji="1" lang="en-US" altLang="ja-JP" sz="2000" b="1" dirty="0">
                <a:solidFill>
                  <a:schemeClr val="bg1">
                    <a:lumMod val="85000"/>
                  </a:schemeClr>
                </a:solidFill>
              </a:rPr>
              <a:t>48</a:t>
            </a:r>
            <a:r>
              <a:rPr kumimoji="1" lang="ja-JP" altLang="en-US" sz="2000" b="1">
                <a:solidFill>
                  <a:schemeClr val="bg1">
                    <a:lumMod val="85000"/>
                  </a:schemeClr>
                </a:solidFill>
              </a:rPr>
              <a:t>時間挑戦（一般社員に向けた施策）</a:t>
            </a:r>
          </a:p>
        </p:txBody>
      </p:sp>
      <p:grpSp>
        <p:nvGrpSpPr>
          <p:cNvPr id="15" name="グループ化 14">
            <a:extLst>
              <a:ext uri="{FF2B5EF4-FFF2-40B4-BE49-F238E27FC236}">
                <a16:creationId xmlns:a16="http://schemas.microsoft.com/office/drawing/2014/main" id="{97BCCA1F-1BEF-8691-B2FC-509115E75C1D}"/>
              </a:ext>
            </a:extLst>
          </p:cNvPr>
          <p:cNvGrpSpPr/>
          <p:nvPr/>
        </p:nvGrpSpPr>
        <p:grpSpPr>
          <a:xfrm>
            <a:off x="464917" y="879675"/>
            <a:ext cx="11262165" cy="5586715"/>
            <a:chOff x="567161" y="914399"/>
            <a:chExt cx="11262165" cy="5586715"/>
          </a:xfrm>
        </p:grpSpPr>
        <p:sp>
          <p:nvSpPr>
            <p:cNvPr id="5" name="正方形/長方形 4">
              <a:extLst>
                <a:ext uri="{FF2B5EF4-FFF2-40B4-BE49-F238E27FC236}">
                  <a16:creationId xmlns:a16="http://schemas.microsoft.com/office/drawing/2014/main" id="{81AFE132-F55E-A49F-FCD1-FC650CCB099F}"/>
                </a:ext>
              </a:extLst>
            </p:cNvPr>
            <p:cNvSpPr/>
            <p:nvPr/>
          </p:nvSpPr>
          <p:spPr>
            <a:xfrm>
              <a:off x="567161" y="914399"/>
              <a:ext cx="1551008"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bg1">
                      <a:lumMod val="95000"/>
                    </a:schemeClr>
                  </a:solidFill>
                </a:rPr>
                <a:t>概要</a:t>
              </a:r>
            </a:p>
          </p:txBody>
        </p:sp>
        <p:sp>
          <p:nvSpPr>
            <p:cNvPr id="6" name="正方形/長方形 5">
              <a:extLst>
                <a:ext uri="{FF2B5EF4-FFF2-40B4-BE49-F238E27FC236}">
                  <a16:creationId xmlns:a16="http://schemas.microsoft.com/office/drawing/2014/main" id="{C1AA93FA-8DBB-E5F1-29DD-9DD988DC127B}"/>
                </a:ext>
              </a:extLst>
            </p:cNvPr>
            <p:cNvSpPr/>
            <p:nvPr/>
          </p:nvSpPr>
          <p:spPr>
            <a:xfrm>
              <a:off x="567161" y="1975972"/>
              <a:ext cx="1551008"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bg1">
                      <a:lumMod val="95000"/>
                    </a:schemeClr>
                  </a:solidFill>
                </a:rPr>
                <a:t>仮説</a:t>
              </a:r>
              <a:endParaRPr kumimoji="1" lang="ja-JP" altLang="en-US" b="1">
                <a:solidFill>
                  <a:schemeClr val="bg1">
                    <a:lumMod val="95000"/>
                  </a:schemeClr>
                </a:solidFill>
              </a:endParaRPr>
            </a:p>
          </p:txBody>
        </p:sp>
        <p:sp>
          <p:nvSpPr>
            <p:cNvPr id="7" name="正方形/長方形 6">
              <a:extLst>
                <a:ext uri="{FF2B5EF4-FFF2-40B4-BE49-F238E27FC236}">
                  <a16:creationId xmlns:a16="http://schemas.microsoft.com/office/drawing/2014/main" id="{F0FE4EEA-ED04-55B2-B544-5D6BF2C8A400}"/>
                </a:ext>
              </a:extLst>
            </p:cNvPr>
            <p:cNvSpPr/>
            <p:nvPr/>
          </p:nvSpPr>
          <p:spPr>
            <a:xfrm>
              <a:off x="567161" y="3037545"/>
              <a:ext cx="1551008"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bg1">
                      <a:lumMod val="95000"/>
                    </a:schemeClr>
                  </a:solidFill>
                </a:rPr>
                <a:t>対象</a:t>
              </a:r>
              <a:endParaRPr kumimoji="1" lang="ja-JP" altLang="en-US" b="1">
                <a:solidFill>
                  <a:schemeClr val="bg1">
                    <a:lumMod val="95000"/>
                  </a:schemeClr>
                </a:solidFill>
              </a:endParaRPr>
            </a:p>
          </p:txBody>
        </p:sp>
        <p:sp>
          <p:nvSpPr>
            <p:cNvPr id="8" name="正方形/長方形 7">
              <a:extLst>
                <a:ext uri="{FF2B5EF4-FFF2-40B4-BE49-F238E27FC236}">
                  <a16:creationId xmlns:a16="http://schemas.microsoft.com/office/drawing/2014/main" id="{D081B87E-3C21-FAA4-3CC6-FC8AB7934E14}"/>
                </a:ext>
              </a:extLst>
            </p:cNvPr>
            <p:cNvSpPr/>
            <p:nvPr/>
          </p:nvSpPr>
          <p:spPr>
            <a:xfrm>
              <a:off x="567161" y="4098808"/>
              <a:ext cx="1551008"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bg1">
                      <a:lumMod val="95000"/>
                    </a:schemeClr>
                  </a:solidFill>
                </a:rPr>
                <a:t>達成基準</a:t>
              </a:r>
              <a:endParaRPr kumimoji="1" lang="ja-JP" altLang="en-US" b="1">
                <a:solidFill>
                  <a:schemeClr val="bg1">
                    <a:lumMod val="95000"/>
                  </a:schemeClr>
                </a:solidFill>
              </a:endParaRPr>
            </a:p>
          </p:txBody>
        </p:sp>
        <p:sp>
          <p:nvSpPr>
            <p:cNvPr id="9" name="正方形/長方形 8">
              <a:extLst>
                <a:ext uri="{FF2B5EF4-FFF2-40B4-BE49-F238E27FC236}">
                  <a16:creationId xmlns:a16="http://schemas.microsoft.com/office/drawing/2014/main" id="{C8D793D7-FAFE-75F7-0CC2-4ACFCE74EB25}"/>
                </a:ext>
              </a:extLst>
            </p:cNvPr>
            <p:cNvSpPr/>
            <p:nvPr/>
          </p:nvSpPr>
          <p:spPr>
            <a:xfrm>
              <a:off x="567161" y="5160071"/>
              <a:ext cx="1551008" cy="134104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accent1">
                      <a:lumMod val="60000"/>
                      <a:lumOff val="40000"/>
                    </a:schemeClr>
                  </a:solidFill>
                </a:rPr>
                <a:t>検討事項</a:t>
              </a:r>
              <a:endParaRPr kumimoji="1" lang="ja-JP" altLang="en-US" b="1">
                <a:solidFill>
                  <a:schemeClr val="accent1">
                    <a:lumMod val="60000"/>
                    <a:lumOff val="40000"/>
                  </a:schemeClr>
                </a:solidFill>
              </a:endParaRPr>
            </a:p>
          </p:txBody>
        </p:sp>
        <p:sp>
          <p:nvSpPr>
            <p:cNvPr id="10" name="正方形/長方形 9">
              <a:extLst>
                <a:ext uri="{FF2B5EF4-FFF2-40B4-BE49-F238E27FC236}">
                  <a16:creationId xmlns:a16="http://schemas.microsoft.com/office/drawing/2014/main" id="{F140A2B1-002F-965E-EAE6-6E9A5CBF0F58}"/>
                </a:ext>
              </a:extLst>
            </p:cNvPr>
            <p:cNvSpPr/>
            <p:nvPr/>
          </p:nvSpPr>
          <p:spPr>
            <a:xfrm>
              <a:off x="2502061" y="914399"/>
              <a:ext cx="9327265"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bg1">
                      <a:lumMod val="95000"/>
                    </a:schemeClr>
                  </a:solidFill>
                </a:rPr>
                <a:t>　</a:t>
              </a:r>
              <a:r>
                <a:rPr lang="ja-JP" altLang="en-US"/>
                <a:t>ポイント制度を（半強制的に）ブーストするため、今から</a:t>
              </a:r>
              <a:r>
                <a:rPr lang="en-US" altLang="ja-JP" dirty="0"/>
                <a:t>48</a:t>
              </a:r>
              <a:r>
                <a:rPr lang="ja-JP" altLang="en-US"/>
                <a:t>時間以内に行う「小さな挑戦」を部門内スレッド等で宣言し、報告するもの</a:t>
              </a:r>
              <a:endParaRPr lang="en-US" altLang="ja-JP" dirty="0">
                <a:solidFill>
                  <a:schemeClr val="bg1">
                    <a:lumMod val="95000"/>
                  </a:schemeClr>
                </a:solidFill>
              </a:endParaRPr>
            </a:p>
          </p:txBody>
        </p:sp>
        <p:sp>
          <p:nvSpPr>
            <p:cNvPr id="11" name="正方形/長方形 10">
              <a:extLst>
                <a:ext uri="{FF2B5EF4-FFF2-40B4-BE49-F238E27FC236}">
                  <a16:creationId xmlns:a16="http://schemas.microsoft.com/office/drawing/2014/main" id="{84FA7B01-EF82-66BA-428A-D08F7F4EE514}"/>
                </a:ext>
              </a:extLst>
            </p:cNvPr>
            <p:cNvSpPr/>
            <p:nvPr/>
          </p:nvSpPr>
          <p:spPr>
            <a:xfrm>
              <a:off x="2502058" y="1975817"/>
              <a:ext cx="9327265"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bg1">
                      <a:lumMod val="95000"/>
                    </a:schemeClr>
                  </a:solidFill>
                </a:rPr>
                <a:t>　</a:t>
              </a:r>
              <a:r>
                <a:rPr lang="ja-JP" altLang="en-US"/>
                <a:t>日頃から挑戦する文化が醸成されれば、会社全体として挑戦を歓迎する雰囲気が生まれ、さらなる意識・行動変容に繋がり、最終的に企業価値の増加につながるのではないか</a:t>
              </a:r>
              <a:endParaRPr lang="en-US" altLang="ja-JP" dirty="0">
                <a:solidFill>
                  <a:schemeClr val="bg1">
                    <a:lumMod val="95000"/>
                  </a:schemeClr>
                </a:solidFill>
              </a:endParaRPr>
            </a:p>
          </p:txBody>
        </p:sp>
        <p:sp>
          <p:nvSpPr>
            <p:cNvPr id="12" name="正方形/長方形 11">
              <a:extLst>
                <a:ext uri="{FF2B5EF4-FFF2-40B4-BE49-F238E27FC236}">
                  <a16:creationId xmlns:a16="http://schemas.microsoft.com/office/drawing/2014/main" id="{E5F5D238-F218-96EB-5CEE-9E105502E939}"/>
                </a:ext>
              </a:extLst>
            </p:cNvPr>
            <p:cNvSpPr/>
            <p:nvPr/>
          </p:nvSpPr>
          <p:spPr>
            <a:xfrm>
              <a:off x="2502058" y="3042523"/>
              <a:ext cx="9327265"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bg1">
                      <a:lumMod val="95000"/>
                    </a:schemeClr>
                  </a:solidFill>
                </a:rPr>
                <a:t>　一般社員（役員は除く）</a:t>
              </a:r>
              <a:endParaRPr lang="en-US" altLang="ja-JP" dirty="0">
                <a:solidFill>
                  <a:schemeClr val="bg1">
                    <a:lumMod val="95000"/>
                  </a:schemeClr>
                </a:solidFill>
              </a:endParaRPr>
            </a:p>
          </p:txBody>
        </p:sp>
        <p:sp>
          <p:nvSpPr>
            <p:cNvPr id="13" name="正方形/長方形 12">
              <a:extLst>
                <a:ext uri="{FF2B5EF4-FFF2-40B4-BE49-F238E27FC236}">
                  <a16:creationId xmlns:a16="http://schemas.microsoft.com/office/drawing/2014/main" id="{CC697649-E828-8EF2-CD7C-D13FB7D55E2C}"/>
                </a:ext>
              </a:extLst>
            </p:cNvPr>
            <p:cNvSpPr/>
            <p:nvPr/>
          </p:nvSpPr>
          <p:spPr>
            <a:xfrm>
              <a:off x="2502058" y="4098807"/>
              <a:ext cx="9327265"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bg1">
                      <a:lumMod val="95000"/>
                    </a:schemeClr>
                  </a:solidFill>
                </a:rPr>
                <a:t>　ポイント制度の達成基準に準ずる</a:t>
              </a:r>
              <a:endParaRPr lang="en-US" altLang="ja-JP" dirty="0">
                <a:solidFill>
                  <a:schemeClr val="bg1">
                    <a:lumMod val="95000"/>
                  </a:schemeClr>
                </a:solidFill>
              </a:endParaRPr>
            </a:p>
          </p:txBody>
        </p:sp>
        <p:sp>
          <p:nvSpPr>
            <p:cNvPr id="14" name="正方形/長方形 13">
              <a:extLst>
                <a:ext uri="{FF2B5EF4-FFF2-40B4-BE49-F238E27FC236}">
                  <a16:creationId xmlns:a16="http://schemas.microsoft.com/office/drawing/2014/main" id="{2D3701F4-2B17-D7FA-B9FE-46864AEFEEC5}"/>
                </a:ext>
              </a:extLst>
            </p:cNvPr>
            <p:cNvSpPr/>
            <p:nvPr/>
          </p:nvSpPr>
          <p:spPr>
            <a:xfrm>
              <a:off x="2502058" y="5155092"/>
              <a:ext cx="9327264" cy="134602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b="1">
                  <a:solidFill>
                    <a:schemeClr val="accent1">
                      <a:lumMod val="60000"/>
                      <a:lumOff val="40000"/>
                    </a:schemeClr>
                  </a:solidFill>
                </a:rPr>
                <a:t>・どう現場が自分事として捉えて、やらされ感をなくすことができるか？</a:t>
              </a:r>
              <a:endParaRPr lang="en-US" altLang="ja-JP" b="1" dirty="0">
                <a:solidFill>
                  <a:schemeClr val="accent1">
                    <a:lumMod val="60000"/>
                    <a:lumOff val="40000"/>
                  </a:schemeClr>
                </a:solidFill>
              </a:endParaRPr>
            </a:p>
            <a:p>
              <a:r>
                <a:rPr lang="ja-JP" altLang="en-US" b="1">
                  <a:solidFill>
                    <a:schemeClr val="accent1">
                      <a:lumMod val="60000"/>
                      <a:lumOff val="40000"/>
                    </a:schemeClr>
                  </a:solidFill>
                </a:rPr>
                <a:t>・負担が大きな制度であるため、いつどのような基準で次期施策に移行するのか？</a:t>
              </a:r>
              <a:endParaRPr kumimoji="1" lang="ja-JP" altLang="en-US" b="1">
                <a:solidFill>
                  <a:schemeClr val="accent1">
                    <a:lumMod val="60000"/>
                    <a:lumOff val="40000"/>
                  </a:schemeClr>
                </a:solidFill>
              </a:endParaRPr>
            </a:p>
          </p:txBody>
        </p:sp>
      </p:grpSp>
    </p:spTree>
    <p:extLst>
      <p:ext uri="{BB962C8B-B14F-4D97-AF65-F5344CB8AC3E}">
        <p14:creationId xmlns:p14="http://schemas.microsoft.com/office/powerpoint/2010/main" val="2615260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9AFE8-66B4-4A4E-E29C-D9DF2AAE98D7}"/>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F1B01DB0-D8EF-4A92-EE33-02FB01F9C696}"/>
              </a:ext>
            </a:extLst>
          </p:cNvPr>
          <p:cNvCxnSpPr>
            <a:cxnSpLocks/>
          </p:cNvCxnSpPr>
          <p:nvPr/>
        </p:nvCxnSpPr>
        <p:spPr>
          <a:xfrm>
            <a:off x="104172" y="544010"/>
            <a:ext cx="11991372"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テキスト ボックス 2">
            <a:extLst>
              <a:ext uri="{FF2B5EF4-FFF2-40B4-BE49-F238E27FC236}">
                <a16:creationId xmlns:a16="http://schemas.microsoft.com/office/drawing/2014/main" id="{E9236858-8A39-CFA6-204D-1066EDB036DB}"/>
              </a:ext>
            </a:extLst>
          </p:cNvPr>
          <p:cNvSpPr txBox="1"/>
          <p:nvPr/>
        </p:nvSpPr>
        <p:spPr>
          <a:xfrm>
            <a:off x="300943" y="81025"/>
            <a:ext cx="5636869" cy="400110"/>
          </a:xfrm>
          <a:prstGeom prst="rect">
            <a:avLst/>
          </a:prstGeom>
          <a:noFill/>
        </p:spPr>
        <p:txBody>
          <a:bodyPr wrap="square" rtlCol="0">
            <a:spAutoFit/>
          </a:bodyPr>
          <a:lstStyle/>
          <a:p>
            <a:r>
              <a:rPr lang="en-US" altLang="ja-JP" sz="2000" b="1" dirty="0">
                <a:solidFill>
                  <a:schemeClr val="bg1">
                    <a:lumMod val="85000"/>
                  </a:schemeClr>
                </a:solidFill>
              </a:rPr>
              <a:t>③</a:t>
            </a:r>
            <a:r>
              <a:rPr lang="ja-JP" altLang="en-US" sz="2000" b="1">
                <a:solidFill>
                  <a:schemeClr val="bg1">
                    <a:lumMod val="85000"/>
                  </a:schemeClr>
                </a:solidFill>
              </a:rPr>
              <a:t>ストレッチゴール</a:t>
            </a:r>
            <a:r>
              <a:rPr kumimoji="1" lang="ja-JP" altLang="en-US" sz="2000" b="1">
                <a:solidFill>
                  <a:schemeClr val="bg1">
                    <a:lumMod val="85000"/>
                  </a:schemeClr>
                </a:solidFill>
              </a:rPr>
              <a:t>（一般社員に向けた施策）</a:t>
            </a:r>
          </a:p>
        </p:txBody>
      </p:sp>
      <p:grpSp>
        <p:nvGrpSpPr>
          <p:cNvPr id="15" name="グループ化 14">
            <a:extLst>
              <a:ext uri="{FF2B5EF4-FFF2-40B4-BE49-F238E27FC236}">
                <a16:creationId xmlns:a16="http://schemas.microsoft.com/office/drawing/2014/main" id="{14BEF888-4984-A9F1-DC4A-B7B9435FF2B0}"/>
              </a:ext>
            </a:extLst>
          </p:cNvPr>
          <p:cNvGrpSpPr/>
          <p:nvPr/>
        </p:nvGrpSpPr>
        <p:grpSpPr>
          <a:xfrm>
            <a:off x="464917" y="879675"/>
            <a:ext cx="11262165" cy="5586715"/>
            <a:chOff x="567161" y="914399"/>
            <a:chExt cx="11262165" cy="5586715"/>
          </a:xfrm>
        </p:grpSpPr>
        <p:sp>
          <p:nvSpPr>
            <p:cNvPr id="5" name="正方形/長方形 4">
              <a:extLst>
                <a:ext uri="{FF2B5EF4-FFF2-40B4-BE49-F238E27FC236}">
                  <a16:creationId xmlns:a16="http://schemas.microsoft.com/office/drawing/2014/main" id="{62C283B4-D976-21C0-6F2D-E41FA2B16734}"/>
                </a:ext>
              </a:extLst>
            </p:cNvPr>
            <p:cNvSpPr/>
            <p:nvPr/>
          </p:nvSpPr>
          <p:spPr>
            <a:xfrm>
              <a:off x="567161" y="914399"/>
              <a:ext cx="1551008"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bg1">
                      <a:lumMod val="95000"/>
                    </a:schemeClr>
                  </a:solidFill>
                </a:rPr>
                <a:t>概要</a:t>
              </a:r>
            </a:p>
          </p:txBody>
        </p:sp>
        <p:sp>
          <p:nvSpPr>
            <p:cNvPr id="6" name="正方形/長方形 5">
              <a:extLst>
                <a:ext uri="{FF2B5EF4-FFF2-40B4-BE49-F238E27FC236}">
                  <a16:creationId xmlns:a16="http://schemas.microsoft.com/office/drawing/2014/main" id="{4D1191E1-FD0C-B923-47F1-58DC5C9CCF9B}"/>
                </a:ext>
              </a:extLst>
            </p:cNvPr>
            <p:cNvSpPr/>
            <p:nvPr/>
          </p:nvSpPr>
          <p:spPr>
            <a:xfrm>
              <a:off x="567161" y="1975972"/>
              <a:ext cx="1551008"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bg1">
                      <a:lumMod val="95000"/>
                    </a:schemeClr>
                  </a:solidFill>
                </a:rPr>
                <a:t>仮説</a:t>
              </a:r>
              <a:endParaRPr kumimoji="1" lang="ja-JP" altLang="en-US" b="1">
                <a:solidFill>
                  <a:schemeClr val="bg1">
                    <a:lumMod val="95000"/>
                  </a:schemeClr>
                </a:solidFill>
              </a:endParaRPr>
            </a:p>
          </p:txBody>
        </p:sp>
        <p:sp>
          <p:nvSpPr>
            <p:cNvPr id="7" name="正方形/長方形 6">
              <a:extLst>
                <a:ext uri="{FF2B5EF4-FFF2-40B4-BE49-F238E27FC236}">
                  <a16:creationId xmlns:a16="http://schemas.microsoft.com/office/drawing/2014/main" id="{A9F71376-A901-CDFD-1158-41EB0EADA5F6}"/>
                </a:ext>
              </a:extLst>
            </p:cNvPr>
            <p:cNvSpPr/>
            <p:nvPr/>
          </p:nvSpPr>
          <p:spPr>
            <a:xfrm>
              <a:off x="567161" y="3037545"/>
              <a:ext cx="1551008"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bg1">
                      <a:lumMod val="95000"/>
                    </a:schemeClr>
                  </a:solidFill>
                </a:rPr>
                <a:t>対象</a:t>
              </a:r>
              <a:endParaRPr kumimoji="1" lang="ja-JP" altLang="en-US" b="1">
                <a:solidFill>
                  <a:schemeClr val="bg1">
                    <a:lumMod val="95000"/>
                  </a:schemeClr>
                </a:solidFill>
              </a:endParaRPr>
            </a:p>
          </p:txBody>
        </p:sp>
        <p:sp>
          <p:nvSpPr>
            <p:cNvPr id="8" name="正方形/長方形 7">
              <a:extLst>
                <a:ext uri="{FF2B5EF4-FFF2-40B4-BE49-F238E27FC236}">
                  <a16:creationId xmlns:a16="http://schemas.microsoft.com/office/drawing/2014/main" id="{802E5AD4-214E-BCAF-4620-84598E4DFECF}"/>
                </a:ext>
              </a:extLst>
            </p:cNvPr>
            <p:cNvSpPr/>
            <p:nvPr/>
          </p:nvSpPr>
          <p:spPr>
            <a:xfrm>
              <a:off x="567161" y="4098808"/>
              <a:ext cx="1551008"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bg1">
                      <a:lumMod val="95000"/>
                    </a:schemeClr>
                  </a:solidFill>
                </a:rPr>
                <a:t>達成基準</a:t>
              </a:r>
              <a:endParaRPr kumimoji="1" lang="ja-JP" altLang="en-US" b="1">
                <a:solidFill>
                  <a:schemeClr val="bg1">
                    <a:lumMod val="95000"/>
                  </a:schemeClr>
                </a:solidFill>
              </a:endParaRPr>
            </a:p>
          </p:txBody>
        </p:sp>
        <p:sp>
          <p:nvSpPr>
            <p:cNvPr id="9" name="正方形/長方形 8">
              <a:extLst>
                <a:ext uri="{FF2B5EF4-FFF2-40B4-BE49-F238E27FC236}">
                  <a16:creationId xmlns:a16="http://schemas.microsoft.com/office/drawing/2014/main" id="{0B470CBD-E5E5-D78B-C345-1ED61DB63ABA}"/>
                </a:ext>
              </a:extLst>
            </p:cNvPr>
            <p:cNvSpPr/>
            <p:nvPr/>
          </p:nvSpPr>
          <p:spPr>
            <a:xfrm>
              <a:off x="567161" y="5160071"/>
              <a:ext cx="1551008" cy="134104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accent1">
                      <a:lumMod val="60000"/>
                      <a:lumOff val="40000"/>
                    </a:schemeClr>
                  </a:solidFill>
                </a:rPr>
                <a:t>検討事項</a:t>
              </a:r>
              <a:endParaRPr kumimoji="1" lang="ja-JP" altLang="en-US" b="1">
                <a:solidFill>
                  <a:schemeClr val="accent1">
                    <a:lumMod val="60000"/>
                    <a:lumOff val="40000"/>
                  </a:schemeClr>
                </a:solidFill>
              </a:endParaRPr>
            </a:p>
          </p:txBody>
        </p:sp>
        <p:sp>
          <p:nvSpPr>
            <p:cNvPr id="10" name="正方形/長方形 9">
              <a:extLst>
                <a:ext uri="{FF2B5EF4-FFF2-40B4-BE49-F238E27FC236}">
                  <a16:creationId xmlns:a16="http://schemas.microsoft.com/office/drawing/2014/main" id="{448B07A0-4ECB-1F39-3A96-747C5F3AC50C}"/>
                </a:ext>
              </a:extLst>
            </p:cNvPr>
            <p:cNvSpPr/>
            <p:nvPr/>
          </p:nvSpPr>
          <p:spPr>
            <a:xfrm>
              <a:off x="2502061" y="914399"/>
              <a:ext cx="9327265"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bg1">
                      <a:lumMod val="95000"/>
                    </a:schemeClr>
                  </a:solidFill>
                </a:rPr>
                <a:t>　</a:t>
              </a:r>
              <a:r>
                <a:rPr lang="en-US" altLang="ja-JP" dirty="0"/>
                <a:t> 48</a:t>
              </a:r>
              <a:r>
                <a:rPr lang="ja-JP" altLang="en-US"/>
                <a:t>時間挑戦の後継施策として、この半年（</a:t>
              </a:r>
              <a:r>
                <a:rPr lang="en-US" altLang="ja-JP" dirty="0"/>
                <a:t>or </a:t>
              </a:r>
              <a:r>
                <a:rPr lang="ja-JP" altLang="en-US"/>
                <a:t>１年）の間に、今の自分のレベルで考えると、少し難しいことを宣言して挑戦するもの</a:t>
              </a:r>
              <a:endParaRPr lang="en-US" altLang="ja-JP" dirty="0">
                <a:solidFill>
                  <a:schemeClr val="bg1">
                    <a:lumMod val="95000"/>
                  </a:schemeClr>
                </a:solidFill>
              </a:endParaRPr>
            </a:p>
          </p:txBody>
        </p:sp>
        <p:sp>
          <p:nvSpPr>
            <p:cNvPr id="11" name="正方形/長方形 10">
              <a:extLst>
                <a:ext uri="{FF2B5EF4-FFF2-40B4-BE49-F238E27FC236}">
                  <a16:creationId xmlns:a16="http://schemas.microsoft.com/office/drawing/2014/main" id="{8F8E71D3-0527-87FE-3873-CB55F0F49BAF}"/>
                </a:ext>
              </a:extLst>
            </p:cNvPr>
            <p:cNvSpPr/>
            <p:nvPr/>
          </p:nvSpPr>
          <p:spPr>
            <a:xfrm>
              <a:off x="2502058" y="1975817"/>
              <a:ext cx="9327265"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bg1">
                      <a:lumMod val="95000"/>
                    </a:schemeClr>
                  </a:solidFill>
                </a:rPr>
                <a:t>　</a:t>
              </a:r>
              <a:r>
                <a:rPr lang="ja-JP" altLang="en-US"/>
                <a:t>失敗から学ぶ文化が醸成されれば、会社全体として失敗を許容する雰囲気が生まれ、さらなる意識・行動変容に繋がり、最終的に企業価値の増加につながるのではないか</a:t>
              </a:r>
              <a:endParaRPr lang="en-US" altLang="ja-JP" dirty="0">
                <a:solidFill>
                  <a:schemeClr val="bg1">
                    <a:lumMod val="95000"/>
                  </a:schemeClr>
                </a:solidFill>
              </a:endParaRPr>
            </a:p>
          </p:txBody>
        </p:sp>
        <p:sp>
          <p:nvSpPr>
            <p:cNvPr id="12" name="正方形/長方形 11">
              <a:extLst>
                <a:ext uri="{FF2B5EF4-FFF2-40B4-BE49-F238E27FC236}">
                  <a16:creationId xmlns:a16="http://schemas.microsoft.com/office/drawing/2014/main" id="{A3A09589-F43B-10EE-54E3-39AA150FADF8}"/>
                </a:ext>
              </a:extLst>
            </p:cNvPr>
            <p:cNvSpPr/>
            <p:nvPr/>
          </p:nvSpPr>
          <p:spPr>
            <a:xfrm>
              <a:off x="2502058" y="3042523"/>
              <a:ext cx="9327265"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bg1">
                      <a:lumMod val="95000"/>
                    </a:schemeClr>
                  </a:solidFill>
                </a:rPr>
                <a:t>　一般社員（役員は除く）</a:t>
              </a:r>
              <a:endParaRPr lang="en-US" altLang="ja-JP" dirty="0">
                <a:solidFill>
                  <a:schemeClr val="bg1">
                    <a:lumMod val="95000"/>
                  </a:schemeClr>
                </a:solidFill>
              </a:endParaRPr>
            </a:p>
          </p:txBody>
        </p:sp>
        <p:sp>
          <p:nvSpPr>
            <p:cNvPr id="13" name="正方形/長方形 12">
              <a:extLst>
                <a:ext uri="{FF2B5EF4-FFF2-40B4-BE49-F238E27FC236}">
                  <a16:creationId xmlns:a16="http://schemas.microsoft.com/office/drawing/2014/main" id="{33CAF0B5-A98A-A94D-0417-3CE2A3AE71CC}"/>
                </a:ext>
              </a:extLst>
            </p:cNvPr>
            <p:cNvSpPr/>
            <p:nvPr/>
          </p:nvSpPr>
          <p:spPr>
            <a:xfrm>
              <a:off x="2502058" y="4098807"/>
              <a:ext cx="9327265"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bg1">
                      <a:lumMod val="95000"/>
                    </a:schemeClr>
                  </a:solidFill>
                </a:rPr>
                <a:t>　キャリア面談の運用方針に準ずる</a:t>
              </a:r>
              <a:endParaRPr lang="en-US" altLang="ja-JP" dirty="0">
                <a:solidFill>
                  <a:schemeClr val="bg1">
                    <a:lumMod val="95000"/>
                  </a:schemeClr>
                </a:solidFill>
              </a:endParaRPr>
            </a:p>
          </p:txBody>
        </p:sp>
        <p:sp>
          <p:nvSpPr>
            <p:cNvPr id="14" name="正方形/長方形 13">
              <a:extLst>
                <a:ext uri="{FF2B5EF4-FFF2-40B4-BE49-F238E27FC236}">
                  <a16:creationId xmlns:a16="http://schemas.microsoft.com/office/drawing/2014/main" id="{85E12D58-16B2-3F9D-4EE5-BA3A234D3FE0}"/>
                </a:ext>
              </a:extLst>
            </p:cNvPr>
            <p:cNvSpPr/>
            <p:nvPr/>
          </p:nvSpPr>
          <p:spPr>
            <a:xfrm>
              <a:off x="2502058" y="5155092"/>
              <a:ext cx="9327264" cy="134602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b="1">
                  <a:solidFill>
                    <a:schemeClr val="accent1">
                      <a:lumMod val="60000"/>
                      <a:lumOff val="40000"/>
                    </a:schemeClr>
                  </a:solidFill>
                </a:rPr>
                <a:t>・どう現場が自分事として捉えて、やらされ感をなくすことができるか？</a:t>
              </a:r>
              <a:endParaRPr lang="en-US" altLang="ja-JP" b="1" dirty="0">
                <a:solidFill>
                  <a:schemeClr val="accent1">
                    <a:lumMod val="60000"/>
                    <a:lumOff val="40000"/>
                  </a:schemeClr>
                </a:solidFill>
              </a:endParaRPr>
            </a:p>
            <a:p>
              <a:r>
                <a:rPr lang="ja-JP" altLang="en-US" b="1">
                  <a:solidFill>
                    <a:schemeClr val="accent1">
                      <a:lumMod val="60000"/>
                      <a:lumOff val="40000"/>
                    </a:schemeClr>
                  </a:solidFill>
                </a:rPr>
                <a:t>・どの程度のものを挑戦として認めるのか？</a:t>
              </a:r>
              <a:endParaRPr lang="en-US" altLang="ja-JP" b="1" dirty="0">
                <a:solidFill>
                  <a:schemeClr val="accent1">
                    <a:lumMod val="60000"/>
                    <a:lumOff val="40000"/>
                  </a:schemeClr>
                </a:solidFill>
              </a:endParaRPr>
            </a:p>
            <a:p>
              <a:r>
                <a:rPr lang="ja-JP" altLang="en-US" b="1">
                  <a:solidFill>
                    <a:schemeClr val="accent1">
                      <a:lumMod val="60000"/>
                      <a:lumOff val="40000"/>
                    </a:schemeClr>
                  </a:solidFill>
                </a:rPr>
                <a:t>・キャリア面談との紐付けをどう考えるか？</a:t>
              </a:r>
              <a:endParaRPr kumimoji="1" lang="ja-JP" altLang="en-US" b="1">
                <a:solidFill>
                  <a:schemeClr val="accent1">
                    <a:lumMod val="60000"/>
                    <a:lumOff val="40000"/>
                  </a:schemeClr>
                </a:solidFill>
              </a:endParaRPr>
            </a:p>
          </p:txBody>
        </p:sp>
      </p:grpSp>
    </p:spTree>
    <p:extLst>
      <p:ext uri="{BB962C8B-B14F-4D97-AF65-F5344CB8AC3E}">
        <p14:creationId xmlns:p14="http://schemas.microsoft.com/office/powerpoint/2010/main" val="2581271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E14C2-D8E5-6A13-BEF6-D4FADB71FEBD}"/>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AFFEE09E-1CF4-EFFD-0FC4-FE52EB7E52F8}"/>
              </a:ext>
            </a:extLst>
          </p:cNvPr>
          <p:cNvCxnSpPr>
            <a:cxnSpLocks/>
          </p:cNvCxnSpPr>
          <p:nvPr/>
        </p:nvCxnSpPr>
        <p:spPr>
          <a:xfrm>
            <a:off x="104172" y="544010"/>
            <a:ext cx="11991372"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テキスト ボックス 2">
            <a:extLst>
              <a:ext uri="{FF2B5EF4-FFF2-40B4-BE49-F238E27FC236}">
                <a16:creationId xmlns:a16="http://schemas.microsoft.com/office/drawing/2014/main" id="{0DCBB4FB-FF12-BEF5-0D96-660F8D138E57}"/>
              </a:ext>
            </a:extLst>
          </p:cNvPr>
          <p:cNvSpPr txBox="1"/>
          <p:nvPr/>
        </p:nvSpPr>
        <p:spPr>
          <a:xfrm>
            <a:off x="300943" y="81025"/>
            <a:ext cx="7141579" cy="400110"/>
          </a:xfrm>
          <a:prstGeom prst="rect">
            <a:avLst/>
          </a:prstGeom>
          <a:noFill/>
        </p:spPr>
        <p:txBody>
          <a:bodyPr wrap="square" rtlCol="0">
            <a:spAutoFit/>
          </a:bodyPr>
          <a:lstStyle/>
          <a:p>
            <a:r>
              <a:rPr lang="en-US" altLang="ja-JP" sz="2000" b="1" dirty="0">
                <a:solidFill>
                  <a:schemeClr val="bg1">
                    <a:lumMod val="85000"/>
                  </a:schemeClr>
                </a:solidFill>
              </a:rPr>
              <a:t>④</a:t>
            </a:r>
            <a:r>
              <a:rPr lang="ja-JP" altLang="en-US" sz="2000" b="1">
                <a:solidFill>
                  <a:schemeClr val="bg1">
                    <a:lumMod val="85000"/>
                  </a:schemeClr>
                </a:solidFill>
              </a:rPr>
              <a:t>部門長アクセラレーター</a:t>
            </a:r>
            <a:r>
              <a:rPr kumimoji="1" lang="ja-JP" altLang="en-US" sz="2000" b="1">
                <a:solidFill>
                  <a:schemeClr val="bg1">
                    <a:lumMod val="85000"/>
                  </a:schemeClr>
                </a:solidFill>
              </a:rPr>
              <a:t>（部門長に向けた施策）</a:t>
            </a:r>
          </a:p>
        </p:txBody>
      </p:sp>
      <p:grpSp>
        <p:nvGrpSpPr>
          <p:cNvPr id="15" name="グループ化 14">
            <a:extLst>
              <a:ext uri="{FF2B5EF4-FFF2-40B4-BE49-F238E27FC236}">
                <a16:creationId xmlns:a16="http://schemas.microsoft.com/office/drawing/2014/main" id="{3F616E93-A2AD-EA03-2DF7-C922E7C454F1}"/>
              </a:ext>
            </a:extLst>
          </p:cNvPr>
          <p:cNvGrpSpPr/>
          <p:nvPr/>
        </p:nvGrpSpPr>
        <p:grpSpPr>
          <a:xfrm>
            <a:off x="464917" y="879675"/>
            <a:ext cx="11262165" cy="5586715"/>
            <a:chOff x="567161" y="914399"/>
            <a:chExt cx="11262165" cy="5586715"/>
          </a:xfrm>
        </p:grpSpPr>
        <p:sp>
          <p:nvSpPr>
            <p:cNvPr id="5" name="正方形/長方形 4">
              <a:extLst>
                <a:ext uri="{FF2B5EF4-FFF2-40B4-BE49-F238E27FC236}">
                  <a16:creationId xmlns:a16="http://schemas.microsoft.com/office/drawing/2014/main" id="{FDF7D688-78D7-2CFC-B622-E64DF327A682}"/>
                </a:ext>
              </a:extLst>
            </p:cNvPr>
            <p:cNvSpPr/>
            <p:nvPr/>
          </p:nvSpPr>
          <p:spPr>
            <a:xfrm>
              <a:off x="567161" y="914399"/>
              <a:ext cx="1551008"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bg1">
                      <a:lumMod val="95000"/>
                    </a:schemeClr>
                  </a:solidFill>
                </a:rPr>
                <a:t>概要</a:t>
              </a:r>
            </a:p>
          </p:txBody>
        </p:sp>
        <p:sp>
          <p:nvSpPr>
            <p:cNvPr id="6" name="正方形/長方形 5">
              <a:extLst>
                <a:ext uri="{FF2B5EF4-FFF2-40B4-BE49-F238E27FC236}">
                  <a16:creationId xmlns:a16="http://schemas.microsoft.com/office/drawing/2014/main" id="{A245553A-0CA4-F826-8FF5-0A2106D5CD06}"/>
                </a:ext>
              </a:extLst>
            </p:cNvPr>
            <p:cNvSpPr/>
            <p:nvPr/>
          </p:nvSpPr>
          <p:spPr>
            <a:xfrm>
              <a:off x="567161" y="1975972"/>
              <a:ext cx="1551008"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bg1">
                      <a:lumMod val="95000"/>
                    </a:schemeClr>
                  </a:solidFill>
                </a:rPr>
                <a:t>仮説</a:t>
              </a:r>
              <a:endParaRPr kumimoji="1" lang="ja-JP" altLang="en-US" b="1">
                <a:solidFill>
                  <a:schemeClr val="bg1">
                    <a:lumMod val="95000"/>
                  </a:schemeClr>
                </a:solidFill>
              </a:endParaRPr>
            </a:p>
          </p:txBody>
        </p:sp>
        <p:sp>
          <p:nvSpPr>
            <p:cNvPr id="7" name="正方形/長方形 6">
              <a:extLst>
                <a:ext uri="{FF2B5EF4-FFF2-40B4-BE49-F238E27FC236}">
                  <a16:creationId xmlns:a16="http://schemas.microsoft.com/office/drawing/2014/main" id="{BCE4C209-F77E-6D41-369F-F26EA682794D}"/>
                </a:ext>
              </a:extLst>
            </p:cNvPr>
            <p:cNvSpPr/>
            <p:nvPr/>
          </p:nvSpPr>
          <p:spPr>
            <a:xfrm>
              <a:off x="567161" y="3037545"/>
              <a:ext cx="1551008"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bg1">
                      <a:lumMod val="95000"/>
                    </a:schemeClr>
                  </a:solidFill>
                </a:rPr>
                <a:t>対象</a:t>
              </a:r>
              <a:endParaRPr kumimoji="1" lang="ja-JP" altLang="en-US" b="1">
                <a:solidFill>
                  <a:schemeClr val="bg1">
                    <a:lumMod val="95000"/>
                  </a:schemeClr>
                </a:solidFill>
              </a:endParaRPr>
            </a:p>
          </p:txBody>
        </p:sp>
        <p:sp>
          <p:nvSpPr>
            <p:cNvPr id="8" name="正方形/長方形 7">
              <a:extLst>
                <a:ext uri="{FF2B5EF4-FFF2-40B4-BE49-F238E27FC236}">
                  <a16:creationId xmlns:a16="http://schemas.microsoft.com/office/drawing/2014/main" id="{61ED1316-C864-C194-4F7A-8711B5816276}"/>
                </a:ext>
              </a:extLst>
            </p:cNvPr>
            <p:cNvSpPr/>
            <p:nvPr/>
          </p:nvSpPr>
          <p:spPr>
            <a:xfrm>
              <a:off x="567161" y="4098808"/>
              <a:ext cx="1551008"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bg1">
                      <a:lumMod val="95000"/>
                    </a:schemeClr>
                  </a:solidFill>
                </a:rPr>
                <a:t>達成基準</a:t>
              </a:r>
              <a:endParaRPr kumimoji="1" lang="ja-JP" altLang="en-US" b="1">
                <a:solidFill>
                  <a:schemeClr val="bg1">
                    <a:lumMod val="95000"/>
                  </a:schemeClr>
                </a:solidFill>
              </a:endParaRPr>
            </a:p>
          </p:txBody>
        </p:sp>
        <p:sp>
          <p:nvSpPr>
            <p:cNvPr id="9" name="正方形/長方形 8">
              <a:extLst>
                <a:ext uri="{FF2B5EF4-FFF2-40B4-BE49-F238E27FC236}">
                  <a16:creationId xmlns:a16="http://schemas.microsoft.com/office/drawing/2014/main" id="{46EBF29C-F24A-C20C-71D1-91B134B52E3F}"/>
                </a:ext>
              </a:extLst>
            </p:cNvPr>
            <p:cNvSpPr/>
            <p:nvPr/>
          </p:nvSpPr>
          <p:spPr>
            <a:xfrm>
              <a:off x="567161" y="5160071"/>
              <a:ext cx="1551008" cy="134104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accent1">
                      <a:lumMod val="60000"/>
                      <a:lumOff val="40000"/>
                    </a:schemeClr>
                  </a:solidFill>
                </a:rPr>
                <a:t>検討事項</a:t>
              </a:r>
              <a:endParaRPr kumimoji="1" lang="ja-JP" altLang="en-US" b="1">
                <a:solidFill>
                  <a:schemeClr val="accent1">
                    <a:lumMod val="60000"/>
                    <a:lumOff val="40000"/>
                  </a:schemeClr>
                </a:solidFill>
              </a:endParaRPr>
            </a:p>
          </p:txBody>
        </p:sp>
        <p:sp>
          <p:nvSpPr>
            <p:cNvPr id="10" name="正方形/長方形 9">
              <a:extLst>
                <a:ext uri="{FF2B5EF4-FFF2-40B4-BE49-F238E27FC236}">
                  <a16:creationId xmlns:a16="http://schemas.microsoft.com/office/drawing/2014/main" id="{2DD25AEF-9892-056C-08C2-C09245CDE00F}"/>
                </a:ext>
              </a:extLst>
            </p:cNvPr>
            <p:cNvSpPr/>
            <p:nvPr/>
          </p:nvSpPr>
          <p:spPr>
            <a:xfrm>
              <a:off x="2502061" y="914399"/>
              <a:ext cx="9327265"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bg1">
                      <a:lumMod val="95000"/>
                    </a:schemeClr>
                  </a:solidFill>
                </a:rPr>
                <a:t>　</a:t>
              </a:r>
              <a:r>
                <a:rPr lang="ja-JP" altLang="en-US"/>
                <a:t>挑戦等の行動を歓迎するマネジメントの必要性を部門長自身が自分事化するため、ポイント制度の運用状況を部門長のスコアとしつつ、部下からの</a:t>
              </a:r>
              <a:r>
                <a:rPr lang="en-US" altLang="ja-JP" dirty="0"/>
                <a:t>FB</a:t>
              </a:r>
              <a:r>
                <a:rPr lang="ja-JP" altLang="en-US"/>
                <a:t>を行うこと</a:t>
              </a:r>
              <a:endParaRPr lang="en-US" altLang="ja-JP" dirty="0">
                <a:solidFill>
                  <a:schemeClr val="bg1">
                    <a:lumMod val="95000"/>
                  </a:schemeClr>
                </a:solidFill>
              </a:endParaRPr>
            </a:p>
          </p:txBody>
        </p:sp>
        <p:sp>
          <p:nvSpPr>
            <p:cNvPr id="11" name="正方形/長方形 10">
              <a:extLst>
                <a:ext uri="{FF2B5EF4-FFF2-40B4-BE49-F238E27FC236}">
                  <a16:creationId xmlns:a16="http://schemas.microsoft.com/office/drawing/2014/main" id="{D8D7FBD1-313A-B107-C17C-AF2F65D03151}"/>
                </a:ext>
              </a:extLst>
            </p:cNvPr>
            <p:cNvSpPr/>
            <p:nvPr/>
          </p:nvSpPr>
          <p:spPr>
            <a:xfrm>
              <a:off x="2502058" y="1975817"/>
              <a:ext cx="9327265"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bg1">
                      <a:lumMod val="95000"/>
                    </a:schemeClr>
                  </a:solidFill>
                </a:rPr>
                <a:t>　</a:t>
              </a:r>
              <a:r>
                <a:rPr lang="ja-JP" altLang="en-US"/>
                <a:t>部門長自身が自分事化できれば、部門全体・会社全体として挑戦を歓迎する雰囲気が生まれるのではないか</a:t>
              </a:r>
              <a:endParaRPr lang="en-US" altLang="ja-JP" dirty="0">
                <a:solidFill>
                  <a:schemeClr val="bg1">
                    <a:lumMod val="95000"/>
                  </a:schemeClr>
                </a:solidFill>
              </a:endParaRPr>
            </a:p>
          </p:txBody>
        </p:sp>
        <p:sp>
          <p:nvSpPr>
            <p:cNvPr id="12" name="正方形/長方形 11">
              <a:extLst>
                <a:ext uri="{FF2B5EF4-FFF2-40B4-BE49-F238E27FC236}">
                  <a16:creationId xmlns:a16="http://schemas.microsoft.com/office/drawing/2014/main" id="{A5191A75-667F-1C25-D8FA-1B11974D7130}"/>
                </a:ext>
              </a:extLst>
            </p:cNvPr>
            <p:cNvSpPr/>
            <p:nvPr/>
          </p:nvSpPr>
          <p:spPr>
            <a:xfrm>
              <a:off x="2502058" y="3042523"/>
              <a:ext cx="9327265"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bg1">
                      <a:lumMod val="95000"/>
                    </a:schemeClr>
                  </a:solidFill>
                </a:rPr>
                <a:t>　部門長</a:t>
              </a:r>
              <a:endParaRPr lang="en-US" altLang="ja-JP" dirty="0">
                <a:solidFill>
                  <a:schemeClr val="bg1">
                    <a:lumMod val="95000"/>
                  </a:schemeClr>
                </a:solidFill>
              </a:endParaRPr>
            </a:p>
          </p:txBody>
        </p:sp>
        <p:sp>
          <p:nvSpPr>
            <p:cNvPr id="13" name="正方形/長方形 12">
              <a:extLst>
                <a:ext uri="{FF2B5EF4-FFF2-40B4-BE49-F238E27FC236}">
                  <a16:creationId xmlns:a16="http://schemas.microsoft.com/office/drawing/2014/main" id="{132ED989-8C69-C8E5-B465-3E516DA36AD6}"/>
                </a:ext>
              </a:extLst>
            </p:cNvPr>
            <p:cNvSpPr/>
            <p:nvPr/>
          </p:nvSpPr>
          <p:spPr>
            <a:xfrm>
              <a:off x="2502058" y="4098807"/>
              <a:ext cx="9327265"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bg1">
                      <a:lumMod val="95000"/>
                    </a:schemeClr>
                  </a:solidFill>
                </a:rPr>
                <a:t>　ー</a:t>
              </a:r>
              <a:endParaRPr lang="en-US" altLang="ja-JP" dirty="0">
                <a:solidFill>
                  <a:schemeClr val="bg1">
                    <a:lumMod val="95000"/>
                  </a:schemeClr>
                </a:solidFill>
              </a:endParaRPr>
            </a:p>
          </p:txBody>
        </p:sp>
        <p:sp>
          <p:nvSpPr>
            <p:cNvPr id="14" name="正方形/長方形 13">
              <a:extLst>
                <a:ext uri="{FF2B5EF4-FFF2-40B4-BE49-F238E27FC236}">
                  <a16:creationId xmlns:a16="http://schemas.microsoft.com/office/drawing/2014/main" id="{253E9C21-640C-7981-4765-DD9F6B66E678}"/>
                </a:ext>
              </a:extLst>
            </p:cNvPr>
            <p:cNvSpPr/>
            <p:nvPr/>
          </p:nvSpPr>
          <p:spPr>
            <a:xfrm>
              <a:off x="2502058" y="5155092"/>
              <a:ext cx="9327264" cy="134602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b="1">
                  <a:solidFill>
                    <a:schemeClr val="accent1">
                      <a:lumMod val="60000"/>
                      <a:lumOff val="40000"/>
                    </a:schemeClr>
                  </a:solidFill>
                </a:rPr>
                <a:t>・</a:t>
              </a:r>
              <a:r>
                <a:rPr lang="en-US" altLang="ja-JP" b="1" dirty="0">
                  <a:solidFill>
                    <a:schemeClr val="accent1">
                      <a:lumMod val="60000"/>
                      <a:lumOff val="40000"/>
                    </a:schemeClr>
                  </a:solidFill>
                </a:rPr>
                <a:t>360</a:t>
              </a:r>
              <a:r>
                <a:rPr lang="ja-JP" altLang="en-US" b="1">
                  <a:solidFill>
                    <a:schemeClr val="accent1">
                      <a:lumMod val="60000"/>
                      <a:lumOff val="40000"/>
                    </a:schemeClr>
                  </a:solidFill>
                </a:rPr>
                <a:t>度評価との棲み分けをどうするか？</a:t>
              </a:r>
              <a:endParaRPr lang="en-US" altLang="ja-JP" b="1" dirty="0">
                <a:solidFill>
                  <a:schemeClr val="accent1">
                    <a:lumMod val="60000"/>
                    <a:lumOff val="40000"/>
                  </a:schemeClr>
                </a:solidFill>
              </a:endParaRPr>
            </a:p>
            <a:p>
              <a:r>
                <a:rPr kumimoji="1" lang="ja-JP" altLang="en-US" b="1">
                  <a:solidFill>
                    <a:schemeClr val="accent1">
                      <a:lumMod val="60000"/>
                      <a:lumOff val="40000"/>
                    </a:schemeClr>
                  </a:solidFill>
                </a:rPr>
                <a:t>・部下からの</a:t>
              </a:r>
              <a:r>
                <a:rPr kumimoji="1" lang="en-US" altLang="ja-JP" b="1" dirty="0">
                  <a:solidFill>
                    <a:schemeClr val="accent1">
                      <a:lumMod val="60000"/>
                      <a:lumOff val="40000"/>
                    </a:schemeClr>
                  </a:solidFill>
                </a:rPr>
                <a:t>FB</a:t>
              </a:r>
              <a:r>
                <a:rPr kumimoji="1" lang="ja-JP" altLang="en-US" b="1">
                  <a:solidFill>
                    <a:schemeClr val="accent1">
                      <a:lumMod val="60000"/>
                      <a:lumOff val="40000"/>
                    </a:schemeClr>
                  </a:solidFill>
                </a:rPr>
                <a:t>が本当に部門長のモチベーションになりうるか？</a:t>
              </a:r>
              <a:endParaRPr kumimoji="1" lang="en-US" altLang="ja-JP" b="1" dirty="0">
                <a:solidFill>
                  <a:schemeClr val="accent1">
                    <a:lumMod val="60000"/>
                    <a:lumOff val="40000"/>
                  </a:schemeClr>
                </a:solidFill>
              </a:endParaRPr>
            </a:p>
            <a:p>
              <a:r>
                <a:rPr lang="ja-JP" altLang="en-US" b="1">
                  <a:solidFill>
                    <a:schemeClr val="accent1">
                      <a:lumMod val="60000"/>
                      <a:lumOff val="40000"/>
                    </a:schemeClr>
                  </a:solidFill>
                </a:rPr>
                <a:t>・部門長の人事評価とどう紐付けをするか？</a:t>
              </a:r>
              <a:endParaRPr kumimoji="1" lang="ja-JP" altLang="en-US" b="1">
                <a:solidFill>
                  <a:schemeClr val="accent1">
                    <a:lumMod val="60000"/>
                    <a:lumOff val="40000"/>
                  </a:schemeClr>
                </a:solidFill>
              </a:endParaRPr>
            </a:p>
          </p:txBody>
        </p:sp>
      </p:grpSp>
    </p:spTree>
    <p:extLst>
      <p:ext uri="{BB962C8B-B14F-4D97-AF65-F5344CB8AC3E}">
        <p14:creationId xmlns:p14="http://schemas.microsoft.com/office/powerpoint/2010/main" val="3270870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1CD85-B89D-F547-7496-706A63BBE239}"/>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90471398-19E3-DAE3-C6D1-0258A5C0B34D}"/>
              </a:ext>
            </a:extLst>
          </p:cNvPr>
          <p:cNvCxnSpPr>
            <a:cxnSpLocks/>
          </p:cNvCxnSpPr>
          <p:nvPr/>
        </p:nvCxnSpPr>
        <p:spPr>
          <a:xfrm>
            <a:off x="104172" y="544010"/>
            <a:ext cx="11991372"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テキスト ボックス 2">
            <a:extLst>
              <a:ext uri="{FF2B5EF4-FFF2-40B4-BE49-F238E27FC236}">
                <a16:creationId xmlns:a16="http://schemas.microsoft.com/office/drawing/2014/main" id="{18441D6B-6711-DEE9-5E43-69459F904A14}"/>
              </a:ext>
            </a:extLst>
          </p:cNvPr>
          <p:cNvSpPr txBox="1"/>
          <p:nvPr/>
        </p:nvSpPr>
        <p:spPr>
          <a:xfrm>
            <a:off x="300943" y="81025"/>
            <a:ext cx="7141579" cy="400110"/>
          </a:xfrm>
          <a:prstGeom prst="rect">
            <a:avLst/>
          </a:prstGeom>
          <a:noFill/>
        </p:spPr>
        <p:txBody>
          <a:bodyPr wrap="square" rtlCol="0">
            <a:spAutoFit/>
          </a:bodyPr>
          <a:lstStyle/>
          <a:p>
            <a:r>
              <a:rPr lang="en-US" altLang="ja-JP" sz="2000" b="1" dirty="0">
                <a:solidFill>
                  <a:schemeClr val="bg1">
                    <a:lumMod val="85000"/>
                  </a:schemeClr>
                </a:solidFill>
              </a:rPr>
              <a:t>⑤</a:t>
            </a:r>
            <a:r>
              <a:rPr lang="ja-JP" altLang="en-US" sz="2000" b="1">
                <a:solidFill>
                  <a:schemeClr val="bg1">
                    <a:lumMod val="85000"/>
                  </a:schemeClr>
                </a:solidFill>
              </a:rPr>
              <a:t>失敗の表彰</a:t>
            </a:r>
            <a:r>
              <a:rPr kumimoji="1" lang="ja-JP" altLang="en-US" sz="2000" b="1">
                <a:solidFill>
                  <a:schemeClr val="bg1">
                    <a:lumMod val="85000"/>
                  </a:schemeClr>
                </a:solidFill>
              </a:rPr>
              <a:t>（経営陣に向けた施策）</a:t>
            </a:r>
          </a:p>
        </p:txBody>
      </p:sp>
      <p:grpSp>
        <p:nvGrpSpPr>
          <p:cNvPr id="15" name="グループ化 14">
            <a:extLst>
              <a:ext uri="{FF2B5EF4-FFF2-40B4-BE49-F238E27FC236}">
                <a16:creationId xmlns:a16="http://schemas.microsoft.com/office/drawing/2014/main" id="{C7745C48-4E53-9B6B-3ACF-0E69C762657A}"/>
              </a:ext>
            </a:extLst>
          </p:cNvPr>
          <p:cNvGrpSpPr/>
          <p:nvPr/>
        </p:nvGrpSpPr>
        <p:grpSpPr>
          <a:xfrm>
            <a:off x="464917" y="879675"/>
            <a:ext cx="11262165" cy="5586715"/>
            <a:chOff x="567161" y="914399"/>
            <a:chExt cx="11262165" cy="5586715"/>
          </a:xfrm>
        </p:grpSpPr>
        <p:sp>
          <p:nvSpPr>
            <p:cNvPr id="5" name="正方形/長方形 4">
              <a:extLst>
                <a:ext uri="{FF2B5EF4-FFF2-40B4-BE49-F238E27FC236}">
                  <a16:creationId xmlns:a16="http://schemas.microsoft.com/office/drawing/2014/main" id="{C4B4BD79-CEED-49EC-5EE7-2E79D7E77474}"/>
                </a:ext>
              </a:extLst>
            </p:cNvPr>
            <p:cNvSpPr/>
            <p:nvPr/>
          </p:nvSpPr>
          <p:spPr>
            <a:xfrm>
              <a:off x="567161" y="914399"/>
              <a:ext cx="1551008"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bg1">
                      <a:lumMod val="95000"/>
                    </a:schemeClr>
                  </a:solidFill>
                </a:rPr>
                <a:t>概要</a:t>
              </a:r>
            </a:p>
          </p:txBody>
        </p:sp>
        <p:sp>
          <p:nvSpPr>
            <p:cNvPr id="6" name="正方形/長方形 5">
              <a:extLst>
                <a:ext uri="{FF2B5EF4-FFF2-40B4-BE49-F238E27FC236}">
                  <a16:creationId xmlns:a16="http://schemas.microsoft.com/office/drawing/2014/main" id="{3EE735CC-A1CE-2236-F607-0D03A3E1458A}"/>
                </a:ext>
              </a:extLst>
            </p:cNvPr>
            <p:cNvSpPr/>
            <p:nvPr/>
          </p:nvSpPr>
          <p:spPr>
            <a:xfrm>
              <a:off x="567161" y="1975972"/>
              <a:ext cx="1551008"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bg1">
                      <a:lumMod val="95000"/>
                    </a:schemeClr>
                  </a:solidFill>
                </a:rPr>
                <a:t>仮説</a:t>
              </a:r>
              <a:endParaRPr kumimoji="1" lang="ja-JP" altLang="en-US" b="1">
                <a:solidFill>
                  <a:schemeClr val="bg1">
                    <a:lumMod val="95000"/>
                  </a:schemeClr>
                </a:solidFill>
              </a:endParaRPr>
            </a:p>
          </p:txBody>
        </p:sp>
        <p:sp>
          <p:nvSpPr>
            <p:cNvPr id="7" name="正方形/長方形 6">
              <a:extLst>
                <a:ext uri="{FF2B5EF4-FFF2-40B4-BE49-F238E27FC236}">
                  <a16:creationId xmlns:a16="http://schemas.microsoft.com/office/drawing/2014/main" id="{9F34317A-6E0A-8229-6A51-E6D8E34BC52B}"/>
                </a:ext>
              </a:extLst>
            </p:cNvPr>
            <p:cNvSpPr/>
            <p:nvPr/>
          </p:nvSpPr>
          <p:spPr>
            <a:xfrm>
              <a:off x="567161" y="3037545"/>
              <a:ext cx="1551008"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bg1">
                      <a:lumMod val="95000"/>
                    </a:schemeClr>
                  </a:solidFill>
                </a:rPr>
                <a:t>対象</a:t>
              </a:r>
              <a:endParaRPr kumimoji="1" lang="ja-JP" altLang="en-US" b="1">
                <a:solidFill>
                  <a:schemeClr val="bg1">
                    <a:lumMod val="95000"/>
                  </a:schemeClr>
                </a:solidFill>
              </a:endParaRPr>
            </a:p>
          </p:txBody>
        </p:sp>
        <p:sp>
          <p:nvSpPr>
            <p:cNvPr id="8" name="正方形/長方形 7">
              <a:extLst>
                <a:ext uri="{FF2B5EF4-FFF2-40B4-BE49-F238E27FC236}">
                  <a16:creationId xmlns:a16="http://schemas.microsoft.com/office/drawing/2014/main" id="{A8AE1875-3494-341D-C3FB-0B985A8A6F1B}"/>
                </a:ext>
              </a:extLst>
            </p:cNvPr>
            <p:cNvSpPr/>
            <p:nvPr/>
          </p:nvSpPr>
          <p:spPr>
            <a:xfrm>
              <a:off x="567161" y="4098808"/>
              <a:ext cx="1551008"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bg1">
                      <a:lumMod val="95000"/>
                    </a:schemeClr>
                  </a:solidFill>
                </a:rPr>
                <a:t>達成基準</a:t>
              </a:r>
              <a:endParaRPr kumimoji="1" lang="ja-JP" altLang="en-US" b="1">
                <a:solidFill>
                  <a:schemeClr val="bg1">
                    <a:lumMod val="95000"/>
                  </a:schemeClr>
                </a:solidFill>
              </a:endParaRPr>
            </a:p>
          </p:txBody>
        </p:sp>
        <p:sp>
          <p:nvSpPr>
            <p:cNvPr id="9" name="正方形/長方形 8">
              <a:extLst>
                <a:ext uri="{FF2B5EF4-FFF2-40B4-BE49-F238E27FC236}">
                  <a16:creationId xmlns:a16="http://schemas.microsoft.com/office/drawing/2014/main" id="{238649FE-BF12-E3A8-5EFA-F1CFB56D1FC5}"/>
                </a:ext>
              </a:extLst>
            </p:cNvPr>
            <p:cNvSpPr/>
            <p:nvPr/>
          </p:nvSpPr>
          <p:spPr>
            <a:xfrm>
              <a:off x="567161" y="5160071"/>
              <a:ext cx="1551008" cy="134104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accent1">
                      <a:lumMod val="60000"/>
                      <a:lumOff val="40000"/>
                    </a:schemeClr>
                  </a:solidFill>
                </a:rPr>
                <a:t>検討事項</a:t>
              </a:r>
              <a:endParaRPr kumimoji="1" lang="ja-JP" altLang="en-US" b="1">
                <a:solidFill>
                  <a:schemeClr val="accent1">
                    <a:lumMod val="60000"/>
                    <a:lumOff val="40000"/>
                  </a:schemeClr>
                </a:solidFill>
              </a:endParaRPr>
            </a:p>
          </p:txBody>
        </p:sp>
        <p:sp>
          <p:nvSpPr>
            <p:cNvPr id="10" name="正方形/長方形 9">
              <a:extLst>
                <a:ext uri="{FF2B5EF4-FFF2-40B4-BE49-F238E27FC236}">
                  <a16:creationId xmlns:a16="http://schemas.microsoft.com/office/drawing/2014/main" id="{461B7519-D183-7B19-C990-949EC1C9B5B0}"/>
                </a:ext>
              </a:extLst>
            </p:cNvPr>
            <p:cNvSpPr/>
            <p:nvPr/>
          </p:nvSpPr>
          <p:spPr>
            <a:xfrm>
              <a:off x="2502061" y="914399"/>
              <a:ext cx="9327265"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bg1">
                      <a:lumMod val="95000"/>
                    </a:schemeClr>
                  </a:solidFill>
                </a:rPr>
                <a:t>　経営陣</a:t>
              </a:r>
              <a:r>
                <a:rPr lang="ja-JP" altLang="en-US"/>
                <a:t>自らの失敗からの学びを全社向けに発表しつつ、一般社員の失敗からの学びを紹介・表彰することで、失敗が許される（挑戦してほしい）メッセージを伝えるもの</a:t>
              </a:r>
              <a:endParaRPr lang="en-US" altLang="ja-JP" dirty="0"/>
            </a:p>
          </p:txBody>
        </p:sp>
        <p:sp>
          <p:nvSpPr>
            <p:cNvPr id="11" name="正方形/長方形 10">
              <a:extLst>
                <a:ext uri="{FF2B5EF4-FFF2-40B4-BE49-F238E27FC236}">
                  <a16:creationId xmlns:a16="http://schemas.microsoft.com/office/drawing/2014/main" id="{74D05B66-E4CA-8EE0-61E3-2270F6E806FE}"/>
                </a:ext>
              </a:extLst>
            </p:cNvPr>
            <p:cNvSpPr/>
            <p:nvPr/>
          </p:nvSpPr>
          <p:spPr>
            <a:xfrm>
              <a:off x="2502058" y="1975817"/>
              <a:ext cx="9327265"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bg1">
                      <a:lumMod val="95000"/>
                    </a:schemeClr>
                  </a:solidFill>
                </a:rPr>
                <a:t>　</a:t>
              </a:r>
              <a:r>
                <a:rPr lang="ja-JP" altLang="en-US"/>
                <a:t>一般社員は、人事評価や周りの評判を気にして失敗を恐れる風潮がつよい。経営トップが自己開示することで、会社全体として挑戦を歓迎する雰囲気が生まれるのではないか</a:t>
              </a:r>
              <a:endParaRPr lang="en-US" altLang="ja-JP" dirty="0">
                <a:solidFill>
                  <a:schemeClr val="bg1">
                    <a:lumMod val="95000"/>
                  </a:schemeClr>
                </a:solidFill>
              </a:endParaRPr>
            </a:p>
          </p:txBody>
        </p:sp>
        <p:sp>
          <p:nvSpPr>
            <p:cNvPr id="12" name="正方形/長方形 11">
              <a:extLst>
                <a:ext uri="{FF2B5EF4-FFF2-40B4-BE49-F238E27FC236}">
                  <a16:creationId xmlns:a16="http://schemas.microsoft.com/office/drawing/2014/main" id="{F1248D2A-1031-2119-BF65-5597F25F2E0E}"/>
                </a:ext>
              </a:extLst>
            </p:cNvPr>
            <p:cNvSpPr/>
            <p:nvPr/>
          </p:nvSpPr>
          <p:spPr>
            <a:xfrm>
              <a:off x="2502058" y="3042523"/>
              <a:ext cx="9327265"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bg1">
                      <a:lumMod val="95000"/>
                    </a:schemeClr>
                  </a:solidFill>
                </a:rPr>
                <a:t>　経営陣</a:t>
              </a:r>
              <a:endParaRPr lang="en-US" altLang="ja-JP" dirty="0">
                <a:solidFill>
                  <a:schemeClr val="bg1">
                    <a:lumMod val="95000"/>
                  </a:schemeClr>
                </a:solidFill>
              </a:endParaRPr>
            </a:p>
          </p:txBody>
        </p:sp>
        <p:sp>
          <p:nvSpPr>
            <p:cNvPr id="13" name="正方形/長方形 12">
              <a:extLst>
                <a:ext uri="{FF2B5EF4-FFF2-40B4-BE49-F238E27FC236}">
                  <a16:creationId xmlns:a16="http://schemas.microsoft.com/office/drawing/2014/main" id="{EEF4F223-A647-B130-3370-300A6A9280F6}"/>
                </a:ext>
              </a:extLst>
            </p:cNvPr>
            <p:cNvSpPr/>
            <p:nvPr/>
          </p:nvSpPr>
          <p:spPr>
            <a:xfrm>
              <a:off x="2502058" y="4098807"/>
              <a:ext cx="9327265"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bg1">
                      <a:lumMod val="95000"/>
                    </a:schemeClr>
                  </a:solidFill>
                </a:rPr>
                <a:t>　ー</a:t>
              </a:r>
              <a:endParaRPr lang="en-US" altLang="ja-JP" dirty="0">
                <a:solidFill>
                  <a:schemeClr val="bg1">
                    <a:lumMod val="95000"/>
                  </a:schemeClr>
                </a:solidFill>
              </a:endParaRPr>
            </a:p>
          </p:txBody>
        </p:sp>
        <p:sp>
          <p:nvSpPr>
            <p:cNvPr id="14" name="正方形/長方形 13">
              <a:extLst>
                <a:ext uri="{FF2B5EF4-FFF2-40B4-BE49-F238E27FC236}">
                  <a16:creationId xmlns:a16="http://schemas.microsoft.com/office/drawing/2014/main" id="{14ED8902-DBC7-CDD2-2DB4-FFA3392BFCA7}"/>
                </a:ext>
              </a:extLst>
            </p:cNvPr>
            <p:cNvSpPr/>
            <p:nvPr/>
          </p:nvSpPr>
          <p:spPr>
            <a:xfrm>
              <a:off x="2502058" y="5155092"/>
              <a:ext cx="9327264" cy="134602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b="1">
                  <a:solidFill>
                    <a:schemeClr val="accent1">
                      <a:lumMod val="60000"/>
                      <a:lumOff val="40000"/>
                    </a:schemeClr>
                  </a:solidFill>
                </a:rPr>
                <a:t>・そもそも経営層がそうした自己開示を行うのか？</a:t>
              </a:r>
              <a:endParaRPr lang="en-US" altLang="ja-JP" b="1" dirty="0">
                <a:solidFill>
                  <a:schemeClr val="accent1">
                    <a:lumMod val="60000"/>
                    <a:lumOff val="40000"/>
                  </a:schemeClr>
                </a:solidFill>
              </a:endParaRPr>
            </a:p>
            <a:p>
              <a:r>
                <a:rPr kumimoji="1" lang="ja-JP" altLang="en-US" b="1">
                  <a:solidFill>
                    <a:schemeClr val="accent1">
                      <a:lumMod val="60000"/>
                      <a:lumOff val="40000"/>
                    </a:schemeClr>
                  </a:solidFill>
                </a:rPr>
                <a:t>・どうした失敗からの学びであれば、発表・表彰の対象となるのか？</a:t>
              </a:r>
            </a:p>
          </p:txBody>
        </p:sp>
      </p:grpSp>
    </p:spTree>
    <p:extLst>
      <p:ext uri="{BB962C8B-B14F-4D97-AF65-F5344CB8AC3E}">
        <p14:creationId xmlns:p14="http://schemas.microsoft.com/office/powerpoint/2010/main" val="2014652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06BCA-AAEF-6961-DB90-F7BFC66803CC}"/>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024E03A9-DAE4-D41C-A29B-29E327EC2513}"/>
              </a:ext>
            </a:extLst>
          </p:cNvPr>
          <p:cNvCxnSpPr>
            <a:cxnSpLocks/>
          </p:cNvCxnSpPr>
          <p:nvPr/>
        </p:nvCxnSpPr>
        <p:spPr>
          <a:xfrm>
            <a:off x="104172" y="544010"/>
            <a:ext cx="11991372"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テキスト ボックス 2">
            <a:extLst>
              <a:ext uri="{FF2B5EF4-FFF2-40B4-BE49-F238E27FC236}">
                <a16:creationId xmlns:a16="http://schemas.microsoft.com/office/drawing/2014/main" id="{FAECF030-3020-D3C5-8865-B198719C442F}"/>
              </a:ext>
            </a:extLst>
          </p:cNvPr>
          <p:cNvSpPr txBox="1"/>
          <p:nvPr/>
        </p:nvSpPr>
        <p:spPr>
          <a:xfrm>
            <a:off x="300943" y="81025"/>
            <a:ext cx="7141579" cy="400110"/>
          </a:xfrm>
          <a:prstGeom prst="rect">
            <a:avLst/>
          </a:prstGeom>
          <a:noFill/>
        </p:spPr>
        <p:txBody>
          <a:bodyPr wrap="square" rtlCol="0">
            <a:spAutoFit/>
          </a:bodyPr>
          <a:lstStyle/>
          <a:p>
            <a:r>
              <a:rPr lang="en-US" altLang="ja-JP" sz="2000" b="1" dirty="0">
                <a:solidFill>
                  <a:schemeClr val="bg1">
                    <a:lumMod val="85000"/>
                  </a:schemeClr>
                </a:solidFill>
              </a:rPr>
              <a:t>⑥</a:t>
            </a:r>
            <a:r>
              <a:rPr lang="ja-JP" altLang="en-US" sz="2000" b="1">
                <a:solidFill>
                  <a:schemeClr val="bg1">
                    <a:lumMod val="85000"/>
                  </a:schemeClr>
                </a:solidFill>
              </a:rPr>
              <a:t>ダッシュボード</a:t>
            </a:r>
            <a:r>
              <a:rPr kumimoji="1" lang="ja-JP" altLang="en-US" sz="2000" b="1">
                <a:solidFill>
                  <a:schemeClr val="bg1">
                    <a:lumMod val="85000"/>
                  </a:schemeClr>
                </a:solidFill>
              </a:rPr>
              <a:t>（全社）</a:t>
            </a:r>
          </a:p>
        </p:txBody>
      </p:sp>
      <p:grpSp>
        <p:nvGrpSpPr>
          <p:cNvPr id="15" name="グループ化 14">
            <a:extLst>
              <a:ext uri="{FF2B5EF4-FFF2-40B4-BE49-F238E27FC236}">
                <a16:creationId xmlns:a16="http://schemas.microsoft.com/office/drawing/2014/main" id="{C440A00C-093F-CF4A-E857-9BD07AECB004}"/>
              </a:ext>
            </a:extLst>
          </p:cNvPr>
          <p:cNvGrpSpPr/>
          <p:nvPr/>
        </p:nvGrpSpPr>
        <p:grpSpPr>
          <a:xfrm>
            <a:off x="464919" y="873080"/>
            <a:ext cx="11262162" cy="2400380"/>
            <a:chOff x="567161" y="3037545"/>
            <a:chExt cx="11262162" cy="2400380"/>
          </a:xfrm>
        </p:grpSpPr>
        <p:sp>
          <p:nvSpPr>
            <p:cNvPr id="7" name="正方形/長方形 6">
              <a:extLst>
                <a:ext uri="{FF2B5EF4-FFF2-40B4-BE49-F238E27FC236}">
                  <a16:creationId xmlns:a16="http://schemas.microsoft.com/office/drawing/2014/main" id="{83E7841A-0FF0-DD20-2951-FFCDFE1F56C2}"/>
                </a:ext>
              </a:extLst>
            </p:cNvPr>
            <p:cNvSpPr/>
            <p:nvPr/>
          </p:nvSpPr>
          <p:spPr>
            <a:xfrm>
              <a:off x="567161" y="3037545"/>
              <a:ext cx="1551008"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bg1">
                      <a:lumMod val="95000"/>
                    </a:schemeClr>
                  </a:solidFill>
                </a:rPr>
                <a:t>対象</a:t>
              </a:r>
              <a:endParaRPr kumimoji="1" lang="ja-JP" altLang="en-US" b="1">
                <a:solidFill>
                  <a:schemeClr val="bg1">
                    <a:lumMod val="95000"/>
                  </a:schemeClr>
                </a:solidFill>
              </a:endParaRPr>
            </a:p>
          </p:txBody>
        </p:sp>
        <p:sp>
          <p:nvSpPr>
            <p:cNvPr id="9" name="正方形/長方形 8">
              <a:extLst>
                <a:ext uri="{FF2B5EF4-FFF2-40B4-BE49-F238E27FC236}">
                  <a16:creationId xmlns:a16="http://schemas.microsoft.com/office/drawing/2014/main" id="{83A679D4-2B23-4E17-A89E-931A321E74BF}"/>
                </a:ext>
              </a:extLst>
            </p:cNvPr>
            <p:cNvSpPr/>
            <p:nvPr/>
          </p:nvSpPr>
          <p:spPr>
            <a:xfrm>
              <a:off x="567161" y="4096882"/>
              <a:ext cx="1551008" cy="134104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accent1">
                      <a:lumMod val="60000"/>
                      <a:lumOff val="40000"/>
                    </a:schemeClr>
                  </a:solidFill>
                </a:rPr>
                <a:t>検討事項</a:t>
              </a:r>
              <a:endParaRPr kumimoji="1" lang="ja-JP" altLang="en-US" b="1">
                <a:solidFill>
                  <a:schemeClr val="accent1">
                    <a:lumMod val="60000"/>
                    <a:lumOff val="40000"/>
                  </a:schemeClr>
                </a:solidFill>
              </a:endParaRPr>
            </a:p>
          </p:txBody>
        </p:sp>
        <p:sp>
          <p:nvSpPr>
            <p:cNvPr id="12" name="正方形/長方形 11">
              <a:extLst>
                <a:ext uri="{FF2B5EF4-FFF2-40B4-BE49-F238E27FC236}">
                  <a16:creationId xmlns:a16="http://schemas.microsoft.com/office/drawing/2014/main" id="{7C26B666-ECDB-D56D-E246-2E3B18D7128D}"/>
                </a:ext>
              </a:extLst>
            </p:cNvPr>
            <p:cNvSpPr/>
            <p:nvPr/>
          </p:nvSpPr>
          <p:spPr>
            <a:xfrm>
              <a:off x="2502058" y="3042523"/>
              <a:ext cx="9327265" cy="725909"/>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bg1">
                      <a:lumMod val="95000"/>
                    </a:schemeClr>
                  </a:solidFill>
                </a:rPr>
                <a:t>　経営陣・部門長・マネージャー・リーダー・人財戦略部</a:t>
              </a:r>
              <a:endParaRPr lang="en-US" altLang="ja-JP" dirty="0">
                <a:solidFill>
                  <a:schemeClr val="bg1">
                    <a:lumMod val="95000"/>
                  </a:schemeClr>
                </a:solidFill>
              </a:endParaRPr>
            </a:p>
          </p:txBody>
        </p:sp>
        <p:sp>
          <p:nvSpPr>
            <p:cNvPr id="14" name="正方形/長方形 13">
              <a:extLst>
                <a:ext uri="{FF2B5EF4-FFF2-40B4-BE49-F238E27FC236}">
                  <a16:creationId xmlns:a16="http://schemas.microsoft.com/office/drawing/2014/main" id="{2D052380-8D70-37E9-6A3A-E5DFC36C4083}"/>
                </a:ext>
              </a:extLst>
            </p:cNvPr>
            <p:cNvSpPr/>
            <p:nvPr/>
          </p:nvSpPr>
          <p:spPr>
            <a:xfrm>
              <a:off x="2502058" y="4091903"/>
              <a:ext cx="9327264" cy="134602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b="1">
                  <a:solidFill>
                    <a:schemeClr val="accent1">
                      <a:lumMod val="60000"/>
                      <a:lumOff val="40000"/>
                    </a:schemeClr>
                  </a:solidFill>
                </a:rPr>
                <a:t>・ポイント制度が中長期的にどう経営指標（売上）に結びつくのか？</a:t>
              </a:r>
              <a:endParaRPr lang="en-US" altLang="ja-JP" b="1" dirty="0">
                <a:solidFill>
                  <a:schemeClr val="accent1">
                    <a:lumMod val="60000"/>
                    <a:lumOff val="40000"/>
                  </a:schemeClr>
                </a:solidFill>
              </a:endParaRPr>
            </a:p>
            <a:p>
              <a:r>
                <a:rPr kumimoji="1" lang="ja-JP" altLang="en-US" b="1">
                  <a:solidFill>
                    <a:schemeClr val="accent1">
                      <a:lumMod val="60000"/>
                      <a:lumOff val="40000"/>
                    </a:schemeClr>
                  </a:solidFill>
                </a:rPr>
                <a:t>・どうした指標を測定しておく必要</a:t>
              </a:r>
              <a:r>
                <a:rPr lang="ja-JP" altLang="en-US" b="1">
                  <a:solidFill>
                    <a:schemeClr val="accent1">
                      <a:lumMod val="60000"/>
                      <a:lumOff val="40000"/>
                    </a:schemeClr>
                  </a:solidFill>
                </a:rPr>
                <a:t>があるか？</a:t>
              </a:r>
              <a:endParaRPr lang="en-US" altLang="ja-JP" b="1" dirty="0">
                <a:solidFill>
                  <a:schemeClr val="accent1">
                    <a:lumMod val="60000"/>
                    <a:lumOff val="40000"/>
                  </a:schemeClr>
                </a:solidFill>
              </a:endParaRPr>
            </a:p>
            <a:p>
              <a:r>
                <a:rPr kumimoji="1" lang="ja-JP" altLang="en-US" b="1">
                  <a:solidFill>
                    <a:schemeClr val="accent1">
                      <a:lumMod val="60000"/>
                      <a:lumOff val="40000"/>
                    </a:schemeClr>
                  </a:solidFill>
                </a:rPr>
                <a:t>・ポイントの入力機能が必要か？</a:t>
              </a:r>
            </a:p>
          </p:txBody>
        </p:sp>
      </p:grpSp>
    </p:spTree>
    <p:extLst>
      <p:ext uri="{BB962C8B-B14F-4D97-AF65-F5344CB8AC3E}">
        <p14:creationId xmlns:p14="http://schemas.microsoft.com/office/powerpoint/2010/main" val="459433884"/>
      </p:ext>
    </p:extLst>
  </p:cSld>
  <p:clrMapOvr>
    <a:masterClrMapping/>
  </p:clrMapOvr>
</p:sld>
</file>

<file path=ppt/theme/theme1.xml><?xml version="1.0" encoding="utf-8"?>
<a:theme xmlns:a="http://schemas.openxmlformats.org/drawingml/2006/main" name="Office テーマ">
  <a:themeElements>
    <a:clrScheme name="青緑">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1407</TotalTime>
  <Words>1344</Words>
  <Application>Microsoft Macintosh PowerPoint</Application>
  <PresentationFormat>ワイド画面</PresentationFormat>
  <Paragraphs>121</Paragraphs>
  <Slides>13</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13</vt:i4>
      </vt:variant>
    </vt:vector>
  </HeadingPairs>
  <TitlesOfParts>
    <vt:vector size="15" baseType="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Kiminari Naganawa</dc:creator>
  <cp:lastModifiedBy>Kiminari Naganawa</cp:lastModifiedBy>
  <cp:revision>9</cp:revision>
  <dcterms:created xsi:type="dcterms:W3CDTF">2026-04-11T12:57:23Z</dcterms:created>
  <dcterms:modified xsi:type="dcterms:W3CDTF">2026-04-16T06:34:36Z</dcterms:modified>
</cp:coreProperties>
</file>